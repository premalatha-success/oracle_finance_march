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5" r:id="rId4"/>
    <p:sldId id="277" r:id="rId5"/>
    <p:sldId id="278" r:id="rId6"/>
    <p:sldId id="279" r:id="rId7"/>
    <p:sldId id="280" r:id="rId8"/>
    <p:sldId id="283" r:id="rId9"/>
    <p:sldId id="284" r:id="rId10"/>
    <p:sldId id="285" r:id="rId11"/>
    <p:sldId id="281" r:id="rId12"/>
    <p:sldId id="286" r:id="rId13"/>
    <p:sldId id="287" r:id="rId14"/>
    <p:sldId id="288" r:id="rId15"/>
    <p:sldId id="289" r:id="rId16"/>
    <p:sldId id="290" r:id="rId17"/>
    <p:sldId id="291" r:id="rId18"/>
    <p:sldId id="294" r:id="rId19"/>
    <p:sldId id="295" r:id="rId20"/>
    <p:sldId id="296" r:id="rId21"/>
    <p:sldId id="297" r:id="rId22"/>
    <p:sldId id="298" r:id="rId23"/>
    <p:sldId id="299" r:id="rId24"/>
    <p:sldId id="300" r:id="rId25"/>
    <p:sldId id="301" r:id="rId26"/>
    <p:sldId id="292" r:id="rId27"/>
    <p:sldId id="293" r:id="rId28"/>
    <p:sldId id="302" r:id="rId29"/>
    <p:sldId id="303" r:id="rId30"/>
    <p:sldId id="304"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18" r:id="rId44"/>
    <p:sldId id="319" r:id="rId45"/>
    <p:sldId id="320" r:id="rId46"/>
    <p:sldId id="321" r:id="rId47"/>
    <p:sldId id="322" r:id="rId48"/>
    <p:sldId id="323" r:id="rId49"/>
    <p:sldId id="324" r:id="rId50"/>
    <p:sldId id="325" r:id="rId51"/>
    <p:sldId id="326" r:id="rId52"/>
    <p:sldId id="327" r:id="rId53"/>
    <p:sldId id="328" r:id="rId54"/>
    <p:sldId id="329" r:id="rId55"/>
    <p:sldId id="330" r:id="rId56"/>
    <p:sldId id="331" r:id="rId57"/>
    <p:sldId id="332" r:id="rId58"/>
    <p:sldId id="336" r:id="rId59"/>
    <p:sldId id="335" r:id="rId60"/>
    <p:sldId id="333" r:id="rId61"/>
    <p:sldId id="334" r:id="rId62"/>
    <p:sldId id="337" r:id="rId63"/>
    <p:sldId id="338" r:id="rId64"/>
    <p:sldId id="339" r:id="rId65"/>
    <p:sldId id="340" r:id="rId66"/>
    <p:sldId id="341" r:id="rId67"/>
    <p:sldId id="342" r:id="rId68"/>
    <p:sldId id="343" r:id="rId69"/>
    <p:sldId id="344" r:id="rId70"/>
    <p:sldId id="345" r:id="rId71"/>
    <p:sldId id="346" r:id="rId72"/>
    <p:sldId id="347" r:id="rId73"/>
    <p:sldId id="348" r:id="rId74"/>
    <p:sldId id="349" r:id="rId75"/>
    <p:sldId id="350" r:id="rId76"/>
    <p:sldId id="351" r:id="rId77"/>
    <p:sldId id="352" r:id="rId78"/>
    <p:sldId id="353" r:id="rId79"/>
    <p:sldId id="354" r:id="rId80"/>
    <p:sldId id="355" r:id="rId81"/>
    <p:sldId id="356" r:id="rId82"/>
    <p:sldId id="363" r:id="rId83"/>
    <p:sldId id="357" r:id="rId84"/>
    <p:sldId id="358" r:id="rId85"/>
    <p:sldId id="359" r:id="rId86"/>
    <p:sldId id="360" r:id="rId87"/>
    <p:sldId id="361" r:id="rId88"/>
    <p:sldId id="364" r:id="rId89"/>
    <p:sldId id="365" r:id="rId90"/>
    <p:sldId id="366" r:id="rId91"/>
    <p:sldId id="367" r:id="rId92"/>
    <p:sldId id="362" r:id="rId93"/>
    <p:sldId id="257" r:id="rId94"/>
    <p:sldId id="259" r:id="rId95"/>
    <p:sldId id="258" r:id="rId96"/>
    <p:sldId id="260" r:id="rId97"/>
    <p:sldId id="261" r:id="rId98"/>
    <p:sldId id="262" r:id="rId99"/>
    <p:sldId id="264" r:id="rId100"/>
    <p:sldId id="265" r:id="rId101"/>
    <p:sldId id="266" r:id="rId102"/>
    <p:sldId id="267" r:id="rId103"/>
    <p:sldId id="268" r:id="rId104"/>
    <p:sldId id="269" r:id="rId105"/>
    <p:sldId id="270" r:id="rId106"/>
    <p:sldId id="271" r:id="rId107"/>
    <p:sldId id="272" r:id="rId108"/>
    <p:sldId id="273"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91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CB18A-F86E-2931-A2B6-14D2EAFACC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D4F893-A052-F5FB-01BC-CE7C6E7820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1439D6-42CC-3365-D5E5-C95604D307A2}"/>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5" name="Footer Placeholder 4">
            <a:extLst>
              <a:ext uri="{FF2B5EF4-FFF2-40B4-BE49-F238E27FC236}">
                <a16:creationId xmlns:a16="http://schemas.microsoft.com/office/drawing/2014/main" id="{885865A8-5F5D-1F58-2419-7132B13AAB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978908-1781-FF0C-F68F-98B6DE7E0A91}"/>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3037165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27448-AE66-E44C-4E5B-5BF29E8C8A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1BB5DC-5E25-3BB9-B22E-282E3037DF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BD8425-F16C-70A8-30DF-EE5D65BD773E}"/>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5" name="Footer Placeholder 4">
            <a:extLst>
              <a:ext uri="{FF2B5EF4-FFF2-40B4-BE49-F238E27FC236}">
                <a16:creationId xmlns:a16="http://schemas.microsoft.com/office/drawing/2014/main" id="{91C9D0EA-B1CA-4207-F46C-18C83E3399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43D045-6E30-B47F-A7F6-78402FACEAE6}"/>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3234328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1B3BB-CD36-C923-5C72-4C325441DD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20D259-B401-8AF7-28EF-87CA499E8F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B9EC0C-8733-1C67-CFD5-BD0E6E1570B6}"/>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5" name="Footer Placeholder 4">
            <a:extLst>
              <a:ext uri="{FF2B5EF4-FFF2-40B4-BE49-F238E27FC236}">
                <a16:creationId xmlns:a16="http://schemas.microsoft.com/office/drawing/2014/main" id="{41680902-1D6B-88E5-C978-62358B7276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AF75BA-5C82-6D76-EE17-DECB3DC4B23A}"/>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424252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73434-7BB0-6B99-1783-16F3DB8C99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BE13E9-F646-FCC2-8220-073EB90EF3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684012-D068-D799-9442-C9D8101CCE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4C42F6-E006-A185-C4B4-8A45577F22D6}"/>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6" name="Footer Placeholder 5">
            <a:extLst>
              <a:ext uri="{FF2B5EF4-FFF2-40B4-BE49-F238E27FC236}">
                <a16:creationId xmlns:a16="http://schemas.microsoft.com/office/drawing/2014/main" id="{F31F8568-1D00-0E8F-0F5A-8B7D9275E6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475ACD-F2BF-EA7E-3CA1-58D29E11A616}"/>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3350561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C1C7E-D9AB-3139-D33E-AB11B5E6E2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E447BD-B359-D096-2CB9-D14F931CEC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0E6DFC-DB74-0B08-4176-4D75C53BE5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73D75DB-53A7-F732-59BD-2B63FC4364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4BE800-78FC-D023-29D2-9FA16152AE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D019CF-230E-6976-D9AB-7133C322F610}"/>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8" name="Footer Placeholder 7">
            <a:extLst>
              <a:ext uri="{FF2B5EF4-FFF2-40B4-BE49-F238E27FC236}">
                <a16:creationId xmlns:a16="http://schemas.microsoft.com/office/drawing/2014/main" id="{2EF984D1-4A28-82E9-62E9-5EF5F5D271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BF02A3D-70DD-236C-EC70-1D2D0A2DE5E0}"/>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4016455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CCCA8-87FF-4203-6D05-AF95F5C716C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ECE82E-C353-5517-A19C-64B88D5DDF37}"/>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4" name="Footer Placeholder 3">
            <a:extLst>
              <a:ext uri="{FF2B5EF4-FFF2-40B4-BE49-F238E27FC236}">
                <a16:creationId xmlns:a16="http://schemas.microsoft.com/office/drawing/2014/main" id="{9DAAE48B-8526-9431-E5A3-E9E5021811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8A30F32-5EA7-027C-30E6-2494F60CFF44}"/>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3229889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8E9AD-BEDC-39F1-D618-4048166FBCA5}"/>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3" name="Footer Placeholder 2">
            <a:extLst>
              <a:ext uri="{FF2B5EF4-FFF2-40B4-BE49-F238E27FC236}">
                <a16:creationId xmlns:a16="http://schemas.microsoft.com/office/drawing/2014/main" id="{4EF52D5B-9550-9A66-D141-D78C78F937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1F46F1-9008-F6A9-AC83-5354FEE963A9}"/>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2884031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8B425-7146-3EE2-AE59-F4D11DF287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BC4488-E3FD-B9DA-9665-A380609175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E5782C-8BAA-0660-F5DC-B7AF5CFCEF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BEA989-0DA3-C2D1-2310-39130C5AD647}"/>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6" name="Footer Placeholder 5">
            <a:extLst>
              <a:ext uri="{FF2B5EF4-FFF2-40B4-BE49-F238E27FC236}">
                <a16:creationId xmlns:a16="http://schemas.microsoft.com/office/drawing/2014/main" id="{8BBB26E1-6567-5B46-283B-D92181F387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8AEEB1-15BE-248B-B0FD-5093C86C191B}"/>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4017729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D4C5C-FB24-F5C5-9786-68D692504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6F2C7C8-AA1E-9AD7-A25C-15B8532180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009943-4028-5051-ADBD-68A95ECAC8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E26B94-EC16-5D49-8BAB-8CE2AA7269C0}"/>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6" name="Footer Placeholder 5">
            <a:extLst>
              <a:ext uri="{FF2B5EF4-FFF2-40B4-BE49-F238E27FC236}">
                <a16:creationId xmlns:a16="http://schemas.microsoft.com/office/drawing/2014/main" id="{E2D02948-842E-098D-1035-8656ABF351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9F6855-6C68-C51B-8F48-F7042001A16D}"/>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2163425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58DA6-C6C0-F560-71DA-241B924222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214C51-15FB-C8CA-3B38-764AEEB76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B77480-3028-5532-B1AB-D01F83054E22}"/>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5" name="Footer Placeholder 4">
            <a:extLst>
              <a:ext uri="{FF2B5EF4-FFF2-40B4-BE49-F238E27FC236}">
                <a16:creationId xmlns:a16="http://schemas.microsoft.com/office/drawing/2014/main" id="{A1421D81-BC91-4615-C5D4-1E953EC386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29D89F-57B9-80D5-D9C5-54D5605AB3C3}"/>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153564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1B192D-76B9-DCC6-6DB5-B586485AD3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729651-AE90-6D2E-756A-D68D567736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CE794E-9899-BB9A-F415-AADFE141FF5A}"/>
              </a:ext>
            </a:extLst>
          </p:cNvPr>
          <p:cNvSpPr>
            <a:spLocks noGrp="1"/>
          </p:cNvSpPr>
          <p:nvPr>
            <p:ph type="dt" sz="half" idx="10"/>
          </p:nvPr>
        </p:nvSpPr>
        <p:spPr/>
        <p:txBody>
          <a:bodyPr/>
          <a:lstStyle/>
          <a:p>
            <a:fld id="{FAF46D5E-6C96-45F2-BE99-F174F3FFBC27}" type="datetimeFigureOut">
              <a:rPr lang="en-IN" smtClean="0"/>
              <a:t>10-03-2026</a:t>
            </a:fld>
            <a:endParaRPr lang="en-IN"/>
          </a:p>
        </p:txBody>
      </p:sp>
      <p:sp>
        <p:nvSpPr>
          <p:cNvPr id="5" name="Footer Placeholder 4">
            <a:extLst>
              <a:ext uri="{FF2B5EF4-FFF2-40B4-BE49-F238E27FC236}">
                <a16:creationId xmlns:a16="http://schemas.microsoft.com/office/drawing/2014/main" id="{B32E7E2D-68F7-BF3B-E6E7-9848B9A80E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7A8ED7-3D35-749A-7FAF-61AF0DA62DA9}"/>
              </a:ext>
            </a:extLst>
          </p:cNvPr>
          <p:cNvSpPr>
            <a:spLocks noGrp="1"/>
          </p:cNvSpPr>
          <p:nvPr>
            <p:ph type="sldNum" sz="quarter" idx="12"/>
          </p:nvPr>
        </p:nvSpPr>
        <p:spPr/>
        <p:txBody>
          <a:bodyPr/>
          <a:lstStyle/>
          <a:p>
            <a:fld id="{E85FF7DE-1CAA-43AD-845A-5733D4F75FC1}" type="slidenum">
              <a:rPr lang="en-IN" smtClean="0"/>
              <a:t>‹#›</a:t>
            </a:fld>
            <a:endParaRPr lang="en-IN"/>
          </a:p>
        </p:txBody>
      </p:sp>
    </p:spTree>
    <p:extLst>
      <p:ext uri="{BB962C8B-B14F-4D97-AF65-F5344CB8AC3E}">
        <p14:creationId xmlns:p14="http://schemas.microsoft.com/office/powerpoint/2010/main" val="1612132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16A6F4-A0C4-4F1A-33B1-46CE4279B4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796DB8-3DB1-AF15-DC3C-3C23767253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5EF46B-D521-D9FC-B9BA-78D0E15618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F46D5E-6C96-45F2-BE99-F174F3FFBC27}" type="datetimeFigureOut">
              <a:rPr lang="en-IN" smtClean="0"/>
              <a:t>10-03-2026</a:t>
            </a:fld>
            <a:endParaRPr lang="en-IN"/>
          </a:p>
        </p:txBody>
      </p:sp>
      <p:sp>
        <p:nvSpPr>
          <p:cNvPr id="5" name="Footer Placeholder 4">
            <a:extLst>
              <a:ext uri="{FF2B5EF4-FFF2-40B4-BE49-F238E27FC236}">
                <a16:creationId xmlns:a16="http://schemas.microsoft.com/office/drawing/2014/main" id="{CB60ABA5-BD21-31D9-63A9-BC9018B193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205164-3879-B756-E24A-3A0993C81C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5FF7DE-1CAA-43AD-845A-5733D4F75FC1}" type="slidenum">
              <a:rPr lang="en-IN" smtClean="0"/>
              <a:t>‹#›</a:t>
            </a:fld>
            <a:endParaRPr lang="en-IN"/>
          </a:p>
        </p:txBody>
      </p:sp>
    </p:spTree>
    <p:extLst>
      <p:ext uri="{BB962C8B-B14F-4D97-AF65-F5344CB8AC3E}">
        <p14:creationId xmlns:p14="http://schemas.microsoft.com/office/powerpoint/2010/main" val="4154080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90992-0EB8-E540-F1C8-8A72C554EB09}"/>
              </a:ext>
            </a:extLst>
          </p:cNvPr>
          <p:cNvSpPr>
            <a:spLocks noGrp="1"/>
          </p:cNvSpPr>
          <p:nvPr>
            <p:ph type="ctrTitle"/>
          </p:nvPr>
        </p:nvSpPr>
        <p:spPr/>
        <p:txBody>
          <a:bodyPr/>
          <a:lstStyle/>
          <a:p>
            <a:r>
              <a:rPr lang="en-IN" b="1" dirty="0"/>
              <a:t>AI in Finance</a:t>
            </a:r>
          </a:p>
        </p:txBody>
      </p:sp>
      <p:sp>
        <p:nvSpPr>
          <p:cNvPr id="3" name="Subtitle 2">
            <a:extLst>
              <a:ext uri="{FF2B5EF4-FFF2-40B4-BE49-F238E27FC236}">
                <a16:creationId xmlns:a16="http://schemas.microsoft.com/office/drawing/2014/main" id="{63B1D6E9-5F6D-4DE8-2297-5A3CB483C468}"/>
              </a:ext>
            </a:extLst>
          </p:cNvPr>
          <p:cNvSpPr>
            <a:spLocks noGrp="1"/>
          </p:cNvSpPr>
          <p:nvPr>
            <p:ph type="subTitle" idx="1"/>
          </p:nvPr>
        </p:nvSpPr>
        <p:spPr/>
        <p:txBody>
          <a:bodyPr/>
          <a:lstStyle/>
          <a:p>
            <a:r>
              <a:rPr lang="en-IN" dirty="0"/>
              <a:t>                                                               Premalatha T</a:t>
            </a:r>
          </a:p>
        </p:txBody>
      </p:sp>
    </p:spTree>
    <p:extLst>
      <p:ext uri="{BB962C8B-B14F-4D97-AF65-F5344CB8AC3E}">
        <p14:creationId xmlns:p14="http://schemas.microsoft.com/office/powerpoint/2010/main" val="1720082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0CCD8-3835-A7A6-7CCA-BCDB7CAC660F}"/>
              </a:ext>
            </a:extLst>
          </p:cNvPr>
          <p:cNvSpPr>
            <a:spLocks noGrp="1"/>
          </p:cNvSpPr>
          <p:nvPr>
            <p:ph type="title"/>
          </p:nvPr>
        </p:nvSpPr>
        <p:spPr/>
        <p:txBody>
          <a:bodyPr/>
          <a:lstStyle/>
          <a:p>
            <a:pPr algn="ctr"/>
            <a:r>
              <a:rPr lang="en-US" b="1" dirty="0"/>
              <a:t>What is AI in Finance?</a:t>
            </a:r>
            <a:endParaRPr lang="en-IN" b="1" dirty="0"/>
          </a:p>
        </p:txBody>
      </p:sp>
      <p:sp>
        <p:nvSpPr>
          <p:cNvPr id="3" name="Content Placeholder 2">
            <a:extLst>
              <a:ext uri="{FF2B5EF4-FFF2-40B4-BE49-F238E27FC236}">
                <a16:creationId xmlns:a16="http://schemas.microsoft.com/office/drawing/2014/main" id="{36EED6F0-CB5B-D859-2F07-1B5D3AF21CCF}"/>
              </a:ext>
            </a:extLst>
          </p:cNvPr>
          <p:cNvSpPr>
            <a:spLocks noGrp="1"/>
          </p:cNvSpPr>
          <p:nvPr>
            <p:ph idx="1"/>
          </p:nvPr>
        </p:nvSpPr>
        <p:spPr/>
        <p:txBody>
          <a:bodyPr>
            <a:normAutofit fontScale="92500"/>
          </a:bodyPr>
          <a:lstStyle/>
          <a:p>
            <a:pPr>
              <a:lnSpc>
                <a:spcPct val="150000"/>
              </a:lnSpc>
            </a:pPr>
            <a:r>
              <a:rPr lang="en-US" dirty="0"/>
              <a:t>Artificial Intelligence (AI) in finance means using machines and algorithms to analyze financial data, identify patterns, make predictions, and automate decisions that traditionally required human judgment.</a:t>
            </a:r>
          </a:p>
          <a:p>
            <a:pPr>
              <a:lnSpc>
                <a:spcPct val="150000"/>
              </a:lnSpc>
            </a:pPr>
            <a:r>
              <a:rPr lang="en-US" dirty="0"/>
              <a:t>Instead of manually analyzing spreadsheets or reports, AI systems can process millions of transactions, detect anomalies, predict risks, and support financial decision-making in real time.</a:t>
            </a:r>
          </a:p>
          <a:p>
            <a:pPr>
              <a:lnSpc>
                <a:spcPct val="150000"/>
              </a:lnSpc>
            </a:pPr>
            <a:endParaRPr lang="en-IN" dirty="0"/>
          </a:p>
        </p:txBody>
      </p:sp>
    </p:spTree>
    <p:extLst>
      <p:ext uri="{BB962C8B-B14F-4D97-AF65-F5344CB8AC3E}">
        <p14:creationId xmlns:p14="http://schemas.microsoft.com/office/powerpoint/2010/main" val="1112844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7FBD8-7D13-520B-E20B-43727103C5EB}"/>
              </a:ext>
            </a:extLst>
          </p:cNvPr>
          <p:cNvSpPr>
            <a:spLocks noGrp="1"/>
          </p:cNvSpPr>
          <p:nvPr>
            <p:ph type="title"/>
          </p:nvPr>
        </p:nvSpPr>
        <p:spPr/>
        <p:txBody>
          <a:bodyPr/>
          <a:lstStyle/>
          <a:p>
            <a:pPr algn="ctr"/>
            <a:r>
              <a:rPr lang="en-US" b="1" dirty="0"/>
              <a:t>Simple Example</a:t>
            </a:r>
            <a:br>
              <a:rPr lang="en-US" b="1" dirty="0"/>
            </a:br>
            <a:endParaRPr lang="en-IN" dirty="0"/>
          </a:p>
        </p:txBody>
      </p:sp>
      <p:sp>
        <p:nvSpPr>
          <p:cNvPr id="3" name="Content Placeholder 2">
            <a:extLst>
              <a:ext uri="{FF2B5EF4-FFF2-40B4-BE49-F238E27FC236}">
                <a16:creationId xmlns:a16="http://schemas.microsoft.com/office/drawing/2014/main" id="{B48C84A5-546C-931C-6CD9-BBC831E814F1}"/>
              </a:ext>
            </a:extLst>
          </p:cNvPr>
          <p:cNvSpPr>
            <a:spLocks noGrp="1"/>
          </p:cNvSpPr>
          <p:nvPr>
            <p:ph idx="1"/>
          </p:nvPr>
        </p:nvSpPr>
        <p:spPr/>
        <p:txBody>
          <a:bodyPr>
            <a:normAutofit lnSpcReduction="10000"/>
          </a:bodyPr>
          <a:lstStyle/>
          <a:p>
            <a:pPr>
              <a:lnSpc>
                <a:spcPct val="150000"/>
              </a:lnSpc>
            </a:pPr>
            <a:r>
              <a:rPr lang="en-US" dirty="0"/>
              <a:t>A finance analyst may review thousands of transactions to detect fraud.</a:t>
            </a:r>
          </a:p>
          <a:p>
            <a:pPr>
              <a:lnSpc>
                <a:spcPct val="150000"/>
              </a:lnSpc>
            </a:pPr>
            <a:r>
              <a:rPr lang="en-US" dirty="0"/>
              <a:t>AI can:</a:t>
            </a:r>
          </a:p>
          <a:p>
            <a:pPr>
              <a:lnSpc>
                <a:spcPct val="150000"/>
              </a:lnSpc>
            </a:pPr>
            <a:r>
              <a:rPr lang="en-US" dirty="0"/>
              <a:t>Scan millions of transactions</a:t>
            </a:r>
          </a:p>
          <a:p>
            <a:pPr>
              <a:lnSpc>
                <a:spcPct val="150000"/>
              </a:lnSpc>
            </a:pPr>
            <a:r>
              <a:rPr lang="en-US" dirty="0"/>
              <a:t>Identify unusual patterns</a:t>
            </a:r>
          </a:p>
          <a:p>
            <a:pPr>
              <a:lnSpc>
                <a:spcPct val="150000"/>
              </a:lnSpc>
            </a:pPr>
            <a:r>
              <a:rPr lang="en-US" dirty="0"/>
              <a:t>Flag potential fraud within seconds</a:t>
            </a:r>
          </a:p>
          <a:p>
            <a:pPr>
              <a:lnSpc>
                <a:spcPct val="150000"/>
              </a:lnSpc>
            </a:pPr>
            <a:endParaRPr lang="en-IN" dirty="0"/>
          </a:p>
        </p:txBody>
      </p:sp>
    </p:spTree>
    <p:extLst>
      <p:ext uri="{BB962C8B-B14F-4D97-AF65-F5344CB8AC3E}">
        <p14:creationId xmlns:p14="http://schemas.microsoft.com/office/powerpoint/2010/main" val="2267228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2595-5B24-CE96-4FF0-43E54DF0FE3B}"/>
              </a:ext>
            </a:extLst>
          </p:cNvPr>
          <p:cNvSpPr>
            <a:spLocks noGrp="1"/>
          </p:cNvSpPr>
          <p:nvPr>
            <p:ph type="title"/>
          </p:nvPr>
        </p:nvSpPr>
        <p:spPr/>
        <p:txBody>
          <a:bodyPr/>
          <a:lstStyle/>
          <a:p>
            <a:pPr algn="ctr"/>
            <a:r>
              <a:rPr lang="en-IN" b="1" dirty="0"/>
              <a:t>Pattern Recognition</a:t>
            </a:r>
            <a:br>
              <a:rPr lang="en-IN" dirty="0"/>
            </a:br>
            <a:endParaRPr lang="en-IN" dirty="0"/>
          </a:p>
        </p:txBody>
      </p:sp>
      <p:sp>
        <p:nvSpPr>
          <p:cNvPr id="3" name="Content Placeholder 2">
            <a:extLst>
              <a:ext uri="{FF2B5EF4-FFF2-40B4-BE49-F238E27FC236}">
                <a16:creationId xmlns:a16="http://schemas.microsoft.com/office/drawing/2014/main" id="{8DFA6325-C7E2-A02D-AB71-4584EA22061E}"/>
              </a:ext>
            </a:extLst>
          </p:cNvPr>
          <p:cNvSpPr>
            <a:spLocks noGrp="1"/>
          </p:cNvSpPr>
          <p:nvPr>
            <p:ph idx="1"/>
          </p:nvPr>
        </p:nvSpPr>
        <p:spPr/>
        <p:txBody>
          <a:bodyPr>
            <a:normAutofit lnSpcReduction="10000"/>
          </a:bodyPr>
          <a:lstStyle/>
          <a:p>
            <a:pPr marL="0" indent="0">
              <a:lnSpc>
                <a:spcPct val="150000"/>
              </a:lnSpc>
              <a:buNone/>
            </a:pPr>
            <a:r>
              <a:rPr lang="en-IN" dirty="0"/>
              <a:t>AI finds hidden patterns in large datasets.</a:t>
            </a:r>
          </a:p>
          <a:p>
            <a:pPr>
              <a:lnSpc>
                <a:spcPct val="150000"/>
              </a:lnSpc>
            </a:pPr>
            <a:r>
              <a:rPr lang="en-IN" dirty="0"/>
              <a:t>Examples:</a:t>
            </a:r>
          </a:p>
          <a:p>
            <a:pPr>
              <a:lnSpc>
                <a:spcPct val="150000"/>
              </a:lnSpc>
            </a:pPr>
            <a:r>
              <a:rPr lang="en-IN" dirty="0"/>
              <a:t>Fraud detection</a:t>
            </a:r>
          </a:p>
          <a:p>
            <a:pPr>
              <a:lnSpc>
                <a:spcPct val="150000"/>
              </a:lnSpc>
            </a:pPr>
            <a:r>
              <a:rPr lang="en-IN" dirty="0"/>
              <a:t>Spending behavior analysis</a:t>
            </a:r>
          </a:p>
          <a:p>
            <a:pPr>
              <a:lnSpc>
                <a:spcPct val="150000"/>
              </a:lnSpc>
            </a:pPr>
            <a:r>
              <a:rPr lang="en-IN" dirty="0"/>
              <a:t>Market trends</a:t>
            </a:r>
          </a:p>
          <a:p>
            <a:pPr>
              <a:lnSpc>
                <a:spcPct val="150000"/>
              </a:lnSpc>
            </a:pPr>
            <a:r>
              <a:rPr lang="en-IN" dirty="0"/>
              <a:t>Supplier payment patterns</a:t>
            </a:r>
          </a:p>
          <a:p>
            <a:pPr>
              <a:lnSpc>
                <a:spcPct val="150000"/>
              </a:lnSpc>
            </a:pPr>
            <a:endParaRPr lang="en-IN" dirty="0"/>
          </a:p>
        </p:txBody>
      </p:sp>
    </p:spTree>
    <p:extLst>
      <p:ext uri="{BB962C8B-B14F-4D97-AF65-F5344CB8AC3E}">
        <p14:creationId xmlns:p14="http://schemas.microsoft.com/office/powerpoint/2010/main" val="3598384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ED43A-60A1-785B-CB78-1A16E7B9E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F3EA3-8323-D5D3-3730-207A0838F51D}"/>
              </a:ext>
            </a:extLst>
          </p:cNvPr>
          <p:cNvSpPr>
            <a:spLocks noGrp="1"/>
          </p:cNvSpPr>
          <p:nvPr>
            <p:ph type="title"/>
          </p:nvPr>
        </p:nvSpPr>
        <p:spPr/>
        <p:txBody>
          <a:bodyPr/>
          <a:lstStyle/>
          <a:p>
            <a:pPr algn="ctr"/>
            <a:r>
              <a:rPr lang="en-IN" b="1" dirty="0"/>
              <a:t>Automation</a:t>
            </a:r>
            <a:br>
              <a:rPr lang="en-IN" dirty="0"/>
            </a:br>
            <a:endParaRPr lang="en-IN" dirty="0"/>
          </a:p>
        </p:txBody>
      </p:sp>
      <p:sp>
        <p:nvSpPr>
          <p:cNvPr id="3" name="Content Placeholder 2">
            <a:extLst>
              <a:ext uri="{FF2B5EF4-FFF2-40B4-BE49-F238E27FC236}">
                <a16:creationId xmlns:a16="http://schemas.microsoft.com/office/drawing/2014/main" id="{8E9E555A-7B3E-88EF-CBCF-7D1535D65A0B}"/>
              </a:ext>
            </a:extLst>
          </p:cNvPr>
          <p:cNvSpPr>
            <a:spLocks noGrp="1"/>
          </p:cNvSpPr>
          <p:nvPr>
            <p:ph idx="1"/>
          </p:nvPr>
        </p:nvSpPr>
        <p:spPr/>
        <p:txBody>
          <a:bodyPr>
            <a:normAutofit lnSpcReduction="10000"/>
          </a:bodyPr>
          <a:lstStyle/>
          <a:p>
            <a:pPr>
              <a:lnSpc>
                <a:spcPct val="150000"/>
              </a:lnSpc>
            </a:pPr>
            <a:r>
              <a:rPr lang="en-IN" dirty="0"/>
              <a:t>AI automates repetitive financial tasks.</a:t>
            </a:r>
          </a:p>
          <a:p>
            <a:pPr>
              <a:lnSpc>
                <a:spcPct val="150000"/>
              </a:lnSpc>
            </a:pPr>
            <a:r>
              <a:rPr lang="en-IN" dirty="0"/>
              <a:t>Examples:</a:t>
            </a:r>
          </a:p>
          <a:p>
            <a:pPr>
              <a:lnSpc>
                <a:spcPct val="150000"/>
              </a:lnSpc>
            </a:pPr>
            <a:r>
              <a:rPr lang="en-IN" dirty="0"/>
              <a:t>Invoice processing</a:t>
            </a:r>
          </a:p>
          <a:p>
            <a:pPr>
              <a:lnSpc>
                <a:spcPct val="150000"/>
              </a:lnSpc>
            </a:pPr>
            <a:r>
              <a:rPr lang="en-IN" dirty="0"/>
              <a:t>Expense categorization</a:t>
            </a:r>
          </a:p>
          <a:p>
            <a:pPr>
              <a:lnSpc>
                <a:spcPct val="150000"/>
              </a:lnSpc>
            </a:pPr>
            <a:r>
              <a:rPr lang="en-IN" dirty="0"/>
              <a:t>Bank reconciliation</a:t>
            </a:r>
          </a:p>
          <a:p>
            <a:pPr>
              <a:lnSpc>
                <a:spcPct val="150000"/>
              </a:lnSpc>
            </a:pPr>
            <a:r>
              <a:rPr lang="en-IN" dirty="0"/>
              <a:t>Customer support</a:t>
            </a:r>
          </a:p>
          <a:p>
            <a:pPr>
              <a:lnSpc>
                <a:spcPct val="150000"/>
              </a:lnSpc>
            </a:pPr>
            <a:endParaRPr lang="en-IN" dirty="0"/>
          </a:p>
        </p:txBody>
      </p:sp>
    </p:spTree>
    <p:extLst>
      <p:ext uri="{BB962C8B-B14F-4D97-AF65-F5344CB8AC3E}">
        <p14:creationId xmlns:p14="http://schemas.microsoft.com/office/powerpoint/2010/main" val="2322273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B2DAA-8D6E-AD76-CA23-155FEE106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FD6F5-8CEE-7F35-324B-A84D87627120}"/>
              </a:ext>
            </a:extLst>
          </p:cNvPr>
          <p:cNvSpPr>
            <a:spLocks noGrp="1"/>
          </p:cNvSpPr>
          <p:nvPr>
            <p:ph type="title"/>
          </p:nvPr>
        </p:nvSpPr>
        <p:spPr/>
        <p:txBody>
          <a:bodyPr/>
          <a:lstStyle/>
          <a:p>
            <a:pPr algn="ctr"/>
            <a:r>
              <a:rPr lang="en-US" b="1" dirty="0"/>
              <a:t>Decision Support</a:t>
            </a:r>
            <a:br>
              <a:rPr lang="en-US" dirty="0"/>
            </a:br>
            <a:endParaRPr lang="en-IN" dirty="0"/>
          </a:p>
        </p:txBody>
      </p:sp>
      <p:sp>
        <p:nvSpPr>
          <p:cNvPr id="3" name="Content Placeholder 2">
            <a:extLst>
              <a:ext uri="{FF2B5EF4-FFF2-40B4-BE49-F238E27FC236}">
                <a16:creationId xmlns:a16="http://schemas.microsoft.com/office/drawing/2014/main" id="{AA7AFD6A-0A03-A212-5C84-8714057531CD}"/>
              </a:ext>
            </a:extLst>
          </p:cNvPr>
          <p:cNvSpPr>
            <a:spLocks noGrp="1"/>
          </p:cNvSpPr>
          <p:nvPr>
            <p:ph idx="1"/>
          </p:nvPr>
        </p:nvSpPr>
        <p:spPr/>
        <p:txBody>
          <a:bodyPr>
            <a:normAutofit lnSpcReduction="10000"/>
          </a:bodyPr>
          <a:lstStyle/>
          <a:p>
            <a:pPr>
              <a:lnSpc>
                <a:spcPct val="150000"/>
              </a:lnSpc>
            </a:pPr>
            <a:r>
              <a:rPr lang="en-US" dirty="0"/>
              <a:t>AI supports financial decision-making.</a:t>
            </a:r>
          </a:p>
          <a:p>
            <a:pPr>
              <a:lnSpc>
                <a:spcPct val="150000"/>
              </a:lnSpc>
            </a:pPr>
            <a:r>
              <a:rPr lang="en-US" dirty="0"/>
              <a:t>Examples:</a:t>
            </a:r>
          </a:p>
          <a:p>
            <a:pPr>
              <a:lnSpc>
                <a:spcPct val="150000"/>
              </a:lnSpc>
            </a:pPr>
            <a:r>
              <a:rPr lang="en-US" dirty="0"/>
              <a:t>Should a loan be approved?</a:t>
            </a:r>
          </a:p>
          <a:p>
            <a:pPr>
              <a:lnSpc>
                <a:spcPct val="150000"/>
              </a:lnSpc>
            </a:pPr>
            <a:r>
              <a:rPr lang="en-US" dirty="0"/>
              <a:t>What credit limit should be offered?</a:t>
            </a:r>
          </a:p>
          <a:p>
            <a:pPr>
              <a:lnSpc>
                <a:spcPct val="150000"/>
              </a:lnSpc>
            </a:pPr>
            <a:r>
              <a:rPr lang="en-US" dirty="0"/>
              <a:t>Which customer is high risk?</a:t>
            </a:r>
          </a:p>
          <a:p>
            <a:pPr>
              <a:lnSpc>
                <a:spcPct val="150000"/>
              </a:lnSpc>
            </a:pPr>
            <a:r>
              <a:rPr lang="en-US" dirty="0"/>
              <a:t>AI does not replace humans, but augments decision-making.</a:t>
            </a:r>
          </a:p>
          <a:p>
            <a:pPr>
              <a:lnSpc>
                <a:spcPct val="150000"/>
              </a:lnSpc>
            </a:pPr>
            <a:endParaRPr lang="en-IN" dirty="0"/>
          </a:p>
        </p:txBody>
      </p:sp>
    </p:spTree>
    <p:extLst>
      <p:ext uri="{BB962C8B-B14F-4D97-AF65-F5344CB8AC3E}">
        <p14:creationId xmlns:p14="http://schemas.microsoft.com/office/powerpoint/2010/main" val="1479975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7D277-86A3-33BE-B420-A7BA29E955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4B0FF7-A216-8F4E-76EA-9BD6D00EA719}"/>
              </a:ext>
            </a:extLst>
          </p:cNvPr>
          <p:cNvSpPr>
            <a:spLocks noGrp="1"/>
          </p:cNvSpPr>
          <p:nvPr>
            <p:ph idx="1"/>
          </p:nvPr>
        </p:nvSpPr>
        <p:spPr>
          <a:xfrm>
            <a:off x="1083364" y="815009"/>
            <a:ext cx="10270435" cy="5361954"/>
          </a:xfrm>
        </p:spPr>
        <p:txBody>
          <a:bodyPr>
            <a:normAutofit/>
          </a:bodyPr>
          <a:lstStyle/>
          <a:p>
            <a:pPr marL="0" indent="0">
              <a:lnSpc>
                <a:spcPct val="150000"/>
              </a:lnSpc>
              <a:buNone/>
            </a:pPr>
            <a:r>
              <a:rPr lang="en-US" dirty="0"/>
              <a:t>AI-based systems evaluate many variables simultaneously, such as:</a:t>
            </a:r>
          </a:p>
          <a:p>
            <a:pPr>
              <a:lnSpc>
                <a:spcPct val="150000"/>
              </a:lnSpc>
            </a:pPr>
            <a:r>
              <a:rPr lang="en-US" dirty="0"/>
              <a:t>spending behavior</a:t>
            </a:r>
          </a:p>
          <a:p>
            <a:pPr>
              <a:lnSpc>
                <a:spcPct val="150000"/>
              </a:lnSpc>
            </a:pPr>
            <a:r>
              <a:rPr lang="en-US" dirty="0"/>
              <a:t>transaction history</a:t>
            </a:r>
          </a:p>
          <a:p>
            <a:pPr>
              <a:lnSpc>
                <a:spcPct val="150000"/>
              </a:lnSpc>
            </a:pPr>
            <a:r>
              <a:rPr lang="en-US" dirty="0"/>
              <a:t>employment pattern</a:t>
            </a:r>
          </a:p>
          <a:p>
            <a:pPr>
              <a:lnSpc>
                <a:spcPct val="150000"/>
              </a:lnSpc>
            </a:pPr>
            <a:r>
              <a:rPr lang="en-US" dirty="0"/>
              <a:t>repayment behavior</a:t>
            </a:r>
          </a:p>
          <a:p>
            <a:pPr>
              <a:lnSpc>
                <a:spcPct val="150000"/>
              </a:lnSpc>
            </a:pPr>
            <a:r>
              <a:rPr lang="en-US" dirty="0"/>
              <a:t>location patterns</a:t>
            </a:r>
          </a:p>
          <a:p>
            <a:pPr>
              <a:lnSpc>
                <a:spcPct val="150000"/>
              </a:lnSpc>
            </a:pPr>
            <a:endParaRPr lang="en-IN" dirty="0"/>
          </a:p>
        </p:txBody>
      </p:sp>
    </p:spTree>
    <p:extLst>
      <p:ext uri="{BB962C8B-B14F-4D97-AF65-F5344CB8AC3E}">
        <p14:creationId xmlns:p14="http://schemas.microsoft.com/office/powerpoint/2010/main" val="3433469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D9960-E7EA-D0D1-5133-BB31A8030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94A8C8-D840-D889-AF52-4A5700E80D13}"/>
              </a:ext>
            </a:extLst>
          </p:cNvPr>
          <p:cNvSpPr>
            <a:spLocks noGrp="1"/>
          </p:cNvSpPr>
          <p:nvPr>
            <p:ph type="title"/>
          </p:nvPr>
        </p:nvSpPr>
        <p:spPr/>
        <p:txBody>
          <a:bodyPr/>
          <a:lstStyle/>
          <a:p>
            <a:pPr algn="ctr"/>
            <a:r>
              <a:rPr lang="en-US" b="1" dirty="0"/>
              <a:t>Key Changes in Financial Products</a:t>
            </a:r>
            <a:endParaRPr lang="en-IN" b="1" dirty="0"/>
          </a:p>
        </p:txBody>
      </p:sp>
      <p:sp>
        <p:nvSpPr>
          <p:cNvPr id="3" name="Content Placeholder 2">
            <a:extLst>
              <a:ext uri="{FF2B5EF4-FFF2-40B4-BE49-F238E27FC236}">
                <a16:creationId xmlns:a16="http://schemas.microsoft.com/office/drawing/2014/main" id="{4150B424-3F14-E10E-D035-273D272729ED}"/>
              </a:ext>
            </a:extLst>
          </p:cNvPr>
          <p:cNvSpPr>
            <a:spLocks noGrp="1"/>
          </p:cNvSpPr>
          <p:nvPr>
            <p:ph idx="1"/>
          </p:nvPr>
        </p:nvSpPr>
        <p:spPr/>
        <p:txBody>
          <a:bodyPr>
            <a:normAutofit fontScale="85000" lnSpcReduction="20000"/>
          </a:bodyPr>
          <a:lstStyle/>
          <a:p>
            <a:pPr>
              <a:lnSpc>
                <a:spcPct val="150000"/>
              </a:lnSpc>
            </a:pPr>
            <a:r>
              <a:rPr lang="en-US" dirty="0"/>
              <a:t>Personalized Financial Services</a:t>
            </a:r>
          </a:p>
          <a:p>
            <a:pPr>
              <a:lnSpc>
                <a:spcPct val="150000"/>
              </a:lnSpc>
            </a:pPr>
            <a:r>
              <a:rPr lang="en-US" dirty="0"/>
              <a:t>AI enables hyper-personalized financial experiences.</a:t>
            </a:r>
          </a:p>
          <a:p>
            <a:pPr>
              <a:lnSpc>
                <a:spcPct val="150000"/>
              </a:lnSpc>
            </a:pPr>
            <a:r>
              <a:rPr lang="en-US" dirty="0"/>
              <a:t>Examples:</a:t>
            </a:r>
          </a:p>
          <a:p>
            <a:pPr>
              <a:lnSpc>
                <a:spcPct val="150000"/>
              </a:lnSpc>
            </a:pPr>
            <a:r>
              <a:rPr lang="en-US" dirty="0"/>
              <a:t>Personalized credit limits</a:t>
            </a:r>
          </a:p>
          <a:p>
            <a:pPr>
              <a:lnSpc>
                <a:spcPct val="150000"/>
              </a:lnSpc>
            </a:pPr>
            <a:r>
              <a:rPr lang="en-US" dirty="0"/>
              <a:t>Customized loan offers</a:t>
            </a:r>
          </a:p>
          <a:p>
            <a:pPr>
              <a:lnSpc>
                <a:spcPct val="150000"/>
              </a:lnSpc>
            </a:pPr>
            <a:r>
              <a:rPr lang="en-US" dirty="0"/>
              <a:t>Smart investment recommendations</a:t>
            </a:r>
          </a:p>
          <a:p>
            <a:pPr>
              <a:lnSpc>
                <a:spcPct val="150000"/>
              </a:lnSpc>
            </a:pPr>
            <a:r>
              <a:rPr lang="en-US" dirty="0"/>
              <a:t>Tailored insurance plans</a:t>
            </a:r>
          </a:p>
          <a:p>
            <a:pPr>
              <a:lnSpc>
                <a:spcPct val="150000"/>
              </a:lnSpc>
            </a:pPr>
            <a:endParaRPr lang="en-IN" dirty="0"/>
          </a:p>
        </p:txBody>
      </p:sp>
    </p:spTree>
    <p:extLst>
      <p:ext uri="{BB962C8B-B14F-4D97-AF65-F5344CB8AC3E}">
        <p14:creationId xmlns:p14="http://schemas.microsoft.com/office/powerpoint/2010/main" val="960405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22D9F-68E3-83BE-1CCC-FDBAE9CA5E6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9967B8-6AE6-E758-E580-2A402E5E2AE7}"/>
              </a:ext>
            </a:extLst>
          </p:cNvPr>
          <p:cNvSpPr>
            <a:spLocks noGrp="1"/>
          </p:cNvSpPr>
          <p:nvPr>
            <p:ph idx="1"/>
          </p:nvPr>
        </p:nvSpPr>
        <p:spPr/>
        <p:txBody>
          <a:bodyPr/>
          <a:lstStyle/>
          <a:p>
            <a:pPr>
              <a:lnSpc>
                <a:spcPct val="200000"/>
              </a:lnSpc>
            </a:pPr>
            <a:r>
              <a:rPr lang="en-US" dirty="0"/>
              <a:t>Example:</a:t>
            </a:r>
            <a:br>
              <a:rPr lang="en-US" dirty="0"/>
            </a:br>
            <a:r>
              <a:rPr lang="en-US" dirty="0"/>
              <a:t>A banking app suggests:</a:t>
            </a:r>
          </a:p>
          <a:p>
            <a:pPr>
              <a:lnSpc>
                <a:spcPct val="200000"/>
              </a:lnSpc>
            </a:pPr>
            <a:r>
              <a:rPr lang="en-US" dirty="0"/>
              <a:t>“You can save ₹8,000 this month”</a:t>
            </a:r>
          </a:p>
          <a:p>
            <a:pPr>
              <a:lnSpc>
                <a:spcPct val="200000"/>
              </a:lnSpc>
            </a:pPr>
            <a:r>
              <a:rPr lang="en-US" dirty="0"/>
              <a:t>“You may qualify for a home loan”</a:t>
            </a:r>
          </a:p>
          <a:p>
            <a:pPr>
              <a:lnSpc>
                <a:spcPct val="200000"/>
              </a:lnSpc>
            </a:pPr>
            <a:endParaRPr lang="en-IN" dirty="0"/>
          </a:p>
        </p:txBody>
      </p:sp>
    </p:spTree>
    <p:extLst>
      <p:ext uri="{BB962C8B-B14F-4D97-AF65-F5344CB8AC3E}">
        <p14:creationId xmlns:p14="http://schemas.microsoft.com/office/powerpoint/2010/main" val="1900736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58563-CADB-3E89-94A9-6BE79401B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C6EF0-4464-A1A3-940B-2A4383339691}"/>
              </a:ext>
            </a:extLst>
          </p:cNvPr>
          <p:cNvSpPr>
            <a:spLocks noGrp="1"/>
          </p:cNvSpPr>
          <p:nvPr>
            <p:ph type="title"/>
          </p:nvPr>
        </p:nvSpPr>
        <p:spPr/>
        <p:txBody>
          <a:bodyPr/>
          <a:lstStyle/>
          <a:p>
            <a:pPr algn="ctr"/>
            <a:r>
              <a:rPr lang="en-IN" b="1" dirty="0"/>
              <a:t>Real-Time Decision Making</a:t>
            </a:r>
          </a:p>
        </p:txBody>
      </p:sp>
      <p:sp>
        <p:nvSpPr>
          <p:cNvPr id="3" name="Content Placeholder 2">
            <a:extLst>
              <a:ext uri="{FF2B5EF4-FFF2-40B4-BE49-F238E27FC236}">
                <a16:creationId xmlns:a16="http://schemas.microsoft.com/office/drawing/2014/main" id="{B0CA7FB2-718F-FB0D-1AB4-D1540A4032D2}"/>
              </a:ext>
            </a:extLst>
          </p:cNvPr>
          <p:cNvSpPr>
            <a:spLocks noGrp="1"/>
          </p:cNvSpPr>
          <p:nvPr>
            <p:ph idx="1"/>
          </p:nvPr>
        </p:nvSpPr>
        <p:spPr/>
        <p:txBody>
          <a:bodyPr>
            <a:normAutofit fontScale="77500" lnSpcReduction="20000"/>
          </a:bodyPr>
          <a:lstStyle/>
          <a:p>
            <a:pPr>
              <a:lnSpc>
                <a:spcPct val="150000"/>
              </a:lnSpc>
            </a:pPr>
            <a:r>
              <a:rPr lang="en-US" dirty="0"/>
              <a:t>Earlier processes took days or weeks.</a:t>
            </a:r>
          </a:p>
          <a:p>
            <a:pPr>
              <a:lnSpc>
                <a:spcPct val="150000"/>
              </a:lnSpc>
            </a:pPr>
            <a:r>
              <a:rPr lang="en-US" dirty="0"/>
              <a:t>AI enables instant financial decisions.</a:t>
            </a:r>
          </a:p>
          <a:p>
            <a:pPr>
              <a:lnSpc>
                <a:spcPct val="150000"/>
              </a:lnSpc>
            </a:pPr>
            <a:r>
              <a:rPr lang="en-US" dirty="0"/>
              <a:t>Examples:</a:t>
            </a:r>
          </a:p>
          <a:p>
            <a:pPr>
              <a:lnSpc>
                <a:spcPct val="150000"/>
              </a:lnSpc>
            </a:pPr>
            <a:r>
              <a:rPr lang="en-US" dirty="0"/>
              <a:t>Instant loan approval</a:t>
            </a:r>
          </a:p>
          <a:p>
            <a:pPr>
              <a:lnSpc>
                <a:spcPct val="150000"/>
              </a:lnSpc>
            </a:pPr>
            <a:r>
              <a:rPr lang="en-US" dirty="0"/>
              <a:t>Real-time fraud detection</a:t>
            </a:r>
          </a:p>
          <a:p>
            <a:pPr>
              <a:lnSpc>
                <a:spcPct val="150000"/>
              </a:lnSpc>
            </a:pPr>
            <a:r>
              <a:rPr lang="en-US" dirty="0"/>
              <a:t>Instant payment risk scoring</a:t>
            </a:r>
          </a:p>
          <a:p>
            <a:pPr>
              <a:lnSpc>
                <a:spcPct val="150000"/>
              </a:lnSpc>
            </a:pPr>
            <a:r>
              <a:rPr lang="en-US" dirty="0"/>
              <a:t>Example:</a:t>
            </a:r>
            <a:br>
              <a:rPr lang="en-US" dirty="0"/>
            </a:br>
            <a:r>
              <a:rPr lang="en-US" dirty="0"/>
              <a:t>A credit card transaction is approved in milliseconds using AI risk scoring.</a:t>
            </a:r>
          </a:p>
          <a:p>
            <a:pPr>
              <a:lnSpc>
                <a:spcPct val="150000"/>
              </a:lnSpc>
            </a:pPr>
            <a:endParaRPr lang="en-IN" dirty="0"/>
          </a:p>
        </p:txBody>
      </p:sp>
    </p:spTree>
    <p:extLst>
      <p:ext uri="{BB962C8B-B14F-4D97-AF65-F5344CB8AC3E}">
        <p14:creationId xmlns:p14="http://schemas.microsoft.com/office/powerpoint/2010/main" val="3125474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C92E1-5A45-BF72-0C68-23D7F4644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CBAD8-3491-4389-4D09-94AEB218352D}"/>
              </a:ext>
            </a:extLst>
          </p:cNvPr>
          <p:cNvSpPr>
            <a:spLocks noGrp="1"/>
          </p:cNvSpPr>
          <p:nvPr>
            <p:ph type="title"/>
          </p:nvPr>
        </p:nvSpPr>
        <p:spPr/>
        <p:txBody>
          <a:bodyPr/>
          <a:lstStyle/>
          <a:p>
            <a:pPr algn="ctr"/>
            <a:r>
              <a:rPr lang="en-IN" b="1" dirty="0"/>
              <a:t>Smarter Risk Management</a:t>
            </a:r>
          </a:p>
        </p:txBody>
      </p:sp>
      <p:sp>
        <p:nvSpPr>
          <p:cNvPr id="3" name="Content Placeholder 2">
            <a:extLst>
              <a:ext uri="{FF2B5EF4-FFF2-40B4-BE49-F238E27FC236}">
                <a16:creationId xmlns:a16="http://schemas.microsoft.com/office/drawing/2014/main" id="{5576FB29-9B60-7C73-CB8C-666F429089D8}"/>
              </a:ext>
            </a:extLst>
          </p:cNvPr>
          <p:cNvSpPr>
            <a:spLocks noGrp="1"/>
          </p:cNvSpPr>
          <p:nvPr>
            <p:ph idx="1"/>
          </p:nvPr>
        </p:nvSpPr>
        <p:spPr/>
        <p:txBody>
          <a:bodyPr>
            <a:normAutofit/>
          </a:bodyPr>
          <a:lstStyle/>
          <a:p>
            <a:pPr>
              <a:lnSpc>
                <a:spcPct val="160000"/>
              </a:lnSpc>
            </a:pPr>
            <a:r>
              <a:rPr lang="en-IN" dirty="0"/>
              <a:t>AI evaluates risk more accurately than traditional methods.</a:t>
            </a:r>
          </a:p>
          <a:p>
            <a:pPr>
              <a:lnSpc>
                <a:spcPct val="160000"/>
              </a:lnSpc>
            </a:pPr>
            <a:r>
              <a:rPr lang="en-IN" dirty="0"/>
              <a:t>Examples:</a:t>
            </a:r>
          </a:p>
          <a:p>
            <a:pPr>
              <a:lnSpc>
                <a:spcPct val="160000"/>
              </a:lnSpc>
            </a:pPr>
            <a:r>
              <a:rPr lang="en-IN" dirty="0"/>
              <a:t>Predicting loan default</a:t>
            </a:r>
          </a:p>
          <a:p>
            <a:pPr>
              <a:lnSpc>
                <a:spcPct val="160000"/>
              </a:lnSpc>
            </a:pPr>
            <a:r>
              <a:rPr lang="en-IN" dirty="0"/>
              <a:t>Detecting suspicious transactions</a:t>
            </a:r>
          </a:p>
          <a:p>
            <a:pPr>
              <a:lnSpc>
                <a:spcPct val="160000"/>
              </a:lnSpc>
            </a:pPr>
            <a:r>
              <a:rPr lang="en-IN" dirty="0"/>
              <a:t>Monitoring portfolio risk</a:t>
            </a:r>
          </a:p>
          <a:p>
            <a:pPr>
              <a:lnSpc>
                <a:spcPct val="160000"/>
              </a:lnSpc>
            </a:pPr>
            <a:endParaRPr lang="en-IN" dirty="0"/>
          </a:p>
        </p:txBody>
      </p:sp>
    </p:spTree>
    <p:extLst>
      <p:ext uri="{BB962C8B-B14F-4D97-AF65-F5344CB8AC3E}">
        <p14:creationId xmlns:p14="http://schemas.microsoft.com/office/powerpoint/2010/main" val="700856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1B90-488D-9EAE-9DCB-5C7B5CDA66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8B16C0-2E14-8EEB-C378-C8A4102A66AF}"/>
              </a:ext>
            </a:extLst>
          </p:cNvPr>
          <p:cNvSpPr>
            <a:spLocks noGrp="1"/>
          </p:cNvSpPr>
          <p:nvPr>
            <p:ph idx="1"/>
          </p:nvPr>
        </p:nvSpPr>
        <p:spPr/>
        <p:txBody>
          <a:bodyPr/>
          <a:lstStyle/>
          <a:p>
            <a:pPr>
              <a:lnSpc>
                <a:spcPct val="160000"/>
              </a:lnSpc>
            </a:pPr>
            <a:r>
              <a:rPr lang="en-IN" dirty="0"/>
              <a:t>AI considers:</a:t>
            </a:r>
          </a:p>
          <a:p>
            <a:pPr>
              <a:lnSpc>
                <a:spcPct val="160000"/>
              </a:lnSpc>
            </a:pPr>
            <a:r>
              <a:rPr lang="en-IN" dirty="0"/>
              <a:t>transaction patterns</a:t>
            </a:r>
          </a:p>
          <a:p>
            <a:pPr>
              <a:lnSpc>
                <a:spcPct val="160000"/>
              </a:lnSpc>
            </a:pPr>
            <a:r>
              <a:rPr lang="en-IN" dirty="0"/>
              <a:t>behavioural signals</a:t>
            </a:r>
          </a:p>
          <a:p>
            <a:pPr>
              <a:lnSpc>
                <a:spcPct val="160000"/>
              </a:lnSpc>
            </a:pPr>
            <a:r>
              <a:rPr lang="en-IN" dirty="0"/>
              <a:t>macroeconomic indicators</a:t>
            </a:r>
          </a:p>
          <a:p>
            <a:endParaRPr lang="en-IN" dirty="0"/>
          </a:p>
        </p:txBody>
      </p:sp>
    </p:spTree>
    <p:extLst>
      <p:ext uri="{BB962C8B-B14F-4D97-AF65-F5344CB8AC3E}">
        <p14:creationId xmlns:p14="http://schemas.microsoft.com/office/powerpoint/2010/main" val="2218329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50A25-7617-F672-6F3E-295D4A627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8960D-B032-7030-726D-622B7888F69F}"/>
              </a:ext>
            </a:extLst>
          </p:cNvPr>
          <p:cNvSpPr>
            <a:spLocks noGrp="1"/>
          </p:cNvSpPr>
          <p:nvPr>
            <p:ph type="title"/>
          </p:nvPr>
        </p:nvSpPr>
        <p:spPr/>
        <p:txBody>
          <a:bodyPr/>
          <a:lstStyle/>
          <a:p>
            <a:pPr algn="ctr"/>
            <a:r>
              <a:rPr lang="en-US" b="1" dirty="0"/>
              <a:t>Intelligent Automation</a:t>
            </a:r>
            <a:br>
              <a:rPr lang="en-US" b="1" dirty="0"/>
            </a:br>
            <a:endParaRPr lang="en-IN" dirty="0"/>
          </a:p>
        </p:txBody>
      </p:sp>
      <p:sp>
        <p:nvSpPr>
          <p:cNvPr id="3" name="Content Placeholder 2">
            <a:extLst>
              <a:ext uri="{FF2B5EF4-FFF2-40B4-BE49-F238E27FC236}">
                <a16:creationId xmlns:a16="http://schemas.microsoft.com/office/drawing/2014/main" id="{1CE9914E-DCBD-2F0D-02AB-08D46DBE917C}"/>
              </a:ext>
            </a:extLst>
          </p:cNvPr>
          <p:cNvSpPr>
            <a:spLocks noGrp="1"/>
          </p:cNvSpPr>
          <p:nvPr>
            <p:ph idx="1"/>
          </p:nvPr>
        </p:nvSpPr>
        <p:spPr/>
        <p:txBody>
          <a:bodyPr>
            <a:normAutofit lnSpcReduction="10000"/>
          </a:bodyPr>
          <a:lstStyle/>
          <a:p>
            <a:pPr>
              <a:lnSpc>
                <a:spcPct val="150000"/>
              </a:lnSpc>
            </a:pPr>
            <a:r>
              <a:rPr lang="en-US" dirty="0"/>
              <a:t>Many finance operations are now AI-assisted or automated.</a:t>
            </a:r>
          </a:p>
          <a:p>
            <a:pPr>
              <a:lnSpc>
                <a:spcPct val="150000"/>
              </a:lnSpc>
            </a:pPr>
            <a:r>
              <a:rPr lang="en-US" dirty="0"/>
              <a:t>Examples:</a:t>
            </a:r>
          </a:p>
          <a:p>
            <a:pPr>
              <a:lnSpc>
                <a:spcPct val="150000"/>
              </a:lnSpc>
            </a:pPr>
            <a:r>
              <a:rPr lang="en-US" dirty="0"/>
              <a:t>Automated invoice processing</a:t>
            </a:r>
          </a:p>
          <a:p>
            <a:pPr>
              <a:lnSpc>
                <a:spcPct val="150000"/>
              </a:lnSpc>
            </a:pPr>
            <a:r>
              <a:rPr lang="en-US" dirty="0"/>
              <a:t>Smart reconciliation</a:t>
            </a:r>
          </a:p>
          <a:p>
            <a:pPr>
              <a:lnSpc>
                <a:spcPct val="150000"/>
              </a:lnSpc>
            </a:pPr>
            <a:r>
              <a:rPr lang="en-US" dirty="0"/>
              <a:t>Contract analysis</a:t>
            </a:r>
          </a:p>
          <a:p>
            <a:pPr>
              <a:lnSpc>
                <a:spcPct val="150000"/>
              </a:lnSpc>
            </a:pPr>
            <a:r>
              <a:rPr lang="en-US" dirty="0"/>
              <a:t>Expense validation</a:t>
            </a:r>
          </a:p>
          <a:p>
            <a:pPr>
              <a:lnSpc>
                <a:spcPct val="150000"/>
              </a:lnSpc>
            </a:pPr>
            <a:endParaRPr lang="en-IN" dirty="0"/>
          </a:p>
        </p:txBody>
      </p:sp>
    </p:spTree>
    <p:extLst>
      <p:ext uri="{BB962C8B-B14F-4D97-AF65-F5344CB8AC3E}">
        <p14:creationId xmlns:p14="http://schemas.microsoft.com/office/powerpoint/2010/main" val="2956988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BAD9C-8381-8351-87B6-8AAB7B6F37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9810EE-BAF1-B664-57CE-71A1EAC650D8}"/>
              </a:ext>
            </a:extLst>
          </p:cNvPr>
          <p:cNvSpPr>
            <a:spLocks noGrp="1"/>
          </p:cNvSpPr>
          <p:nvPr>
            <p:ph idx="1"/>
          </p:nvPr>
        </p:nvSpPr>
        <p:spPr>
          <a:xfrm>
            <a:off x="815009" y="636104"/>
            <a:ext cx="10538791" cy="5540859"/>
          </a:xfrm>
        </p:spPr>
        <p:txBody>
          <a:bodyPr/>
          <a:lstStyle/>
          <a:p>
            <a:pPr marL="0" indent="0">
              <a:lnSpc>
                <a:spcPct val="150000"/>
              </a:lnSpc>
              <a:buNone/>
            </a:pPr>
            <a:r>
              <a:rPr lang="en-US" dirty="0"/>
              <a:t>This reduces:</a:t>
            </a:r>
          </a:p>
          <a:p>
            <a:pPr>
              <a:lnSpc>
                <a:spcPct val="150000"/>
              </a:lnSpc>
            </a:pPr>
            <a:r>
              <a:rPr lang="en-US" dirty="0"/>
              <a:t>manual effort</a:t>
            </a:r>
          </a:p>
          <a:p>
            <a:pPr>
              <a:lnSpc>
                <a:spcPct val="150000"/>
              </a:lnSpc>
            </a:pPr>
            <a:r>
              <a:rPr lang="en-US" dirty="0"/>
              <a:t>errors</a:t>
            </a:r>
          </a:p>
          <a:p>
            <a:pPr>
              <a:lnSpc>
                <a:spcPct val="150000"/>
              </a:lnSpc>
            </a:pPr>
            <a:r>
              <a:rPr lang="en-US" dirty="0"/>
              <a:t>processing time</a:t>
            </a:r>
          </a:p>
          <a:p>
            <a:pPr>
              <a:lnSpc>
                <a:spcPct val="150000"/>
              </a:lnSpc>
            </a:pPr>
            <a:endParaRPr lang="en-IN" dirty="0"/>
          </a:p>
        </p:txBody>
      </p:sp>
    </p:spTree>
    <p:extLst>
      <p:ext uri="{BB962C8B-B14F-4D97-AF65-F5344CB8AC3E}">
        <p14:creationId xmlns:p14="http://schemas.microsoft.com/office/powerpoint/2010/main" val="4146158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9832A-744B-BEA7-1E3A-5FAA6243A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EF8CE-4DD5-04EC-6AB7-509D76D5265A}"/>
              </a:ext>
            </a:extLst>
          </p:cNvPr>
          <p:cNvSpPr>
            <a:spLocks noGrp="1"/>
          </p:cNvSpPr>
          <p:nvPr>
            <p:ph type="title"/>
          </p:nvPr>
        </p:nvSpPr>
        <p:spPr/>
        <p:txBody>
          <a:bodyPr/>
          <a:lstStyle/>
          <a:p>
            <a:pPr algn="ctr"/>
            <a:r>
              <a:rPr lang="en-IN" b="1" dirty="0"/>
              <a:t>Proactive Financial Insights</a:t>
            </a:r>
          </a:p>
        </p:txBody>
      </p:sp>
      <p:sp>
        <p:nvSpPr>
          <p:cNvPr id="3" name="Content Placeholder 2">
            <a:extLst>
              <a:ext uri="{FF2B5EF4-FFF2-40B4-BE49-F238E27FC236}">
                <a16:creationId xmlns:a16="http://schemas.microsoft.com/office/drawing/2014/main" id="{1BF4D4E6-484A-420E-FCB4-C1956582D5AE}"/>
              </a:ext>
            </a:extLst>
          </p:cNvPr>
          <p:cNvSpPr>
            <a:spLocks noGrp="1"/>
          </p:cNvSpPr>
          <p:nvPr>
            <p:ph idx="1"/>
          </p:nvPr>
        </p:nvSpPr>
        <p:spPr/>
        <p:txBody>
          <a:bodyPr>
            <a:normAutofit fontScale="92500"/>
          </a:bodyPr>
          <a:lstStyle/>
          <a:p>
            <a:pPr>
              <a:lnSpc>
                <a:spcPct val="150000"/>
              </a:lnSpc>
            </a:pPr>
            <a:r>
              <a:rPr lang="en-US" dirty="0"/>
              <a:t>AI systems provide alerts and recommendations.</a:t>
            </a:r>
          </a:p>
          <a:p>
            <a:pPr>
              <a:lnSpc>
                <a:spcPct val="150000"/>
              </a:lnSpc>
            </a:pPr>
            <a:r>
              <a:rPr lang="en-US" dirty="0"/>
              <a:t>Examples:</a:t>
            </a:r>
          </a:p>
          <a:p>
            <a:pPr>
              <a:lnSpc>
                <a:spcPct val="150000"/>
              </a:lnSpc>
            </a:pPr>
            <a:r>
              <a:rPr lang="en-US" dirty="0"/>
              <a:t>“Cash flow may drop next month”</a:t>
            </a:r>
          </a:p>
          <a:p>
            <a:pPr>
              <a:lnSpc>
                <a:spcPct val="150000"/>
              </a:lnSpc>
            </a:pPr>
            <a:r>
              <a:rPr lang="en-US" dirty="0"/>
              <a:t>“Supplier payments are delayed”</a:t>
            </a:r>
          </a:p>
          <a:p>
            <a:pPr>
              <a:lnSpc>
                <a:spcPct val="150000"/>
              </a:lnSpc>
            </a:pPr>
            <a:r>
              <a:rPr lang="en-US" dirty="0"/>
              <a:t>“Customer payment risk increasing”</a:t>
            </a:r>
          </a:p>
          <a:p>
            <a:pPr>
              <a:lnSpc>
                <a:spcPct val="150000"/>
              </a:lnSpc>
            </a:pPr>
            <a:r>
              <a:rPr lang="en-US" dirty="0"/>
              <a:t>Finance teams move from reactive reporting to proactive decision-making.</a:t>
            </a:r>
          </a:p>
          <a:p>
            <a:pPr>
              <a:lnSpc>
                <a:spcPct val="150000"/>
              </a:lnSpc>
            </a:pPr>
            <a:endParaRPr lang="en-IN" dirty="0"/>
          </a:p>
        </p:txBody>
      </p:sp>
    </p:spTree>
    <p:extLst>
      <p:ext uri="{BB962C8B-B14F-4D97-AF65-F5344CB8AC3E}">
        <p14:creationId xmlns:p14="http://schemas.microsoft.com/office/powerpoint/2010/main" val="2219974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0843-903E-68BB-EF92-E93F0CC0A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56722-B5AA-4950-3C99-A615BEEC723F}"/>
              </a:ext>
            </a:extLst>
          </p:cNvPr>
          <p:cNvSpPr>
            <a:spLocks noGrp="1"/>
          </p:cNvSpPr>
          <p:nvPr>
            <p:ph type="title"/>
          </p:nvPr>
        </p:nvSpPr>
        <p:spPr/>
        <p:txBody>
          <a:bodyPr/>
          <a:lstStyle/>
          <a:p>
            <a:pPr algn="ctr"/>
            <a:r>
              <a:rPr lang="en-US" b="1" dirty="0"/>
              <a:t>Role of an AI-Aware Finance Product Manager</a:t>
            </a:r>
            <a:endParaRPr lang="en-IN" b="1" dirty="0"/>
          </a:p>
        </p:txBody>
      </p:sp>
      <p:sp>
        <p:nvSpPr>
          <p:cNvPr id="3" name="Content Placeholder 2">
            <a:extLst>
              <a:ext uri="{FF2B5EF4-FFF2-40B4-BE49-F238E27FC236}">
                <a16:creationId xmlns:a16="http://schemas.microsoft.com/office/drawing/2014/main" id="{5941B9F2-868D-ABC5-3A11-55D869ECB3C6}"/>
              </a:ext>
            </a:extLst>
          </p:cNvPr>
          <p:cNvSpPr>
            <a:spLocks noGrp="1"/>
          </p:cNvSpPr>
          <p:nvPr>
            <p:ph idx="1"/>
          </p:nvPr>
        </p:nvSpPr>
        <p:spPr/>
        <p:txBody>
          <a:bodyPr/>
          <a:lstStyle/>
          <a:p>
            <a:pPr marL="0" indent="0">
              <a:buNone/>
            </a:pPr>
            <a:r>
              <a:rPr lang="en-US" dirty="0">
                <a:highlight>
                  <a:srgbClr val="FFFF00"/>
                </a:highlight>
              </a:rPr>
              <a:t>Finance Product Managers are responsible for building financial products that deliver business value.</a:t>
            </a:r>
          </a:p>
          <a:p>
            <a:r>
              <a:rPr lang="en-US" dirty="0"/>
              <a:t>With AI, their role expands.</a:t>
            </a:r>
          </a:p>
          <a:p>
            <a:r>
              <a:rPr lang="en-US" dirty="0"/>
              <a:t>They must understand:</a:t>
            </a:r>
          </a:p>
          <a:p>
            <a:r>
              <a:rPr lang="en-US" dirty="0"/>
              <a:t>where AI adds value</a:t>
            </a:r>
          </a:p>
          <a:p>
            <a:r>
              <a:rPr lang="en-US" dirty="0"/>
              <a:t>what problems AI should solve</a:t>
            </a:r>
          </a:p>
          <a:p>
            <a:r>
              <a:rPr lang="en-US" dirty="0"/>
              <a:t>risks of AI decisions</a:t>
            </a:r>
          </a:p>
          <a:p>
            <a:r>
              <a:rPr lang="en-US" dirty="0"/>
              <a:t>governance and compliance</a:t>
            </a:r>
          </a:p>
          <a:p>
            <a:endParaRPr lang="en-IN" dirty="0"/>
          </a:p>
        </p:txBody>
      </p:sp>
    </p:spTree>
    <p:extLst>
      <p:ext uri="{BB962C8B-B14F-4D97-AF65-F5344CB8AC3E}">
        <p14:creationId xmlns:p14="http://schemas.microsoft.com/office/powerpoint/2010/main" val="3270140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1C9EA-2C78-B2B4-013A-B40B39AB9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39455-74E0-B2AC-4501-C1C32948654F}"/>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AF5BA5F6-3E32-DD07-A928-E491BB211E88}"/>
              </a:ext>
            </a:extLst>
          </p:cNvPr>
          <p:cNvSpPr>
            <a:spLocks noGrp="1"/>
          </p:cNvSpPr>
          <p:nvPr>
            <p:ph idx="1"/>
          </p:nvPr>
        </p:nvSpPr>
        <p:spPr/>
        <p:txBody>
          <a:bodyPr/>
          <a:lstStyle/>
          <a:p>
            <a:pPr>
              <a:lnSpc>
                <a:spcPct val="150000"/>
              </a:lnSpc>
            </a:pPr>
            <a:r>
              <a:rPr lang="en-US" b="1" dirty="0"/>
              <a:t>Identify AI Opportunities</a:t>
            </a:r>
          </a:p>
          <a:p>
            <a:pPr>
              <a:lnSpc>
                <a:spcPct val="150000"/>
              </a:lnSpc>
            </a:pPr>
            <a:r>
              <a:rPr lang="en-US" dirty="0"/>
              <a:t>Example questions a PM should ask:</a:t>
            </a:r>
          </a:p>
          <a:p>
            <a:pPr>
              <a:lnSpc>
                <a:spcPct val="150000"/>
              </a:lnSpc>
            </a:pPr>
            <a:r>
              <a:rPr lang="en-US" dirty="0"/>
              <a:t>Can AI detect fraud earlier?</a:t>
            </a:r>
          </a:p>
          <a:p>
            <a:pPr>
              <a:lnSpc>
                <a:spcPct val="150000"/>
              </a:lnSpc>
            </a:pPr>
            <a:r>
              <a:rPr lang="en-US" dirty="0"/>
              <a:t>Can we automate reconciliation?</a:t>
            </a:r>
          </a:p>
          <a:p>
            <a:pPr>
              <a:lnSpc>
                <a:spcPct val="150000"/>
              </a:lnSpc>
            </a:pPr>
            <a:r>
              <a:rPr lang="en-US" dirty="0"/>
              <a:t>Can we predict payment delays?</a:t>
            </a:r>
          </a:p>
          <a:p>
            <a:pPr>
              <a:lnSpc>
                <a:spcPct val="150000"/>
              </a:lnSpc>
            </a:pPr>
            <a:endParaRPr lang="en-IN" dirty="0"/>
          </a:p>
        </p:txBody>
      </p:sp>
    </p:spTree>
    <p:extLst>
      <p:ext uri="{BB962C8B-B14F-4D97-AF65-F5344CB8AC3E}">
        <p14:creationId xmlns:p14="http://schemas.microsoft.com/office/powerpoint/2010/main" val="1611023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530B4-3079-0E12-C89C-FBA76CEA2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10B62-16CA-9F9B-6A45-69D40A83C6F7}"/>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BE57095E-C42B-45A6-055C-D912024ED667}"/>
              </a:ext>
            </a:extLst>
          </p:cNvPr>
          <p:cNvSpPr>
            <a:spLocks noGrp="1"/>
          </p:cNvSpPr>
          <p:nvPr>
            <p:ph idx="1"/>
          </p:nvPr>
        </p:nvSpPr>
        <p:spPr/>
        <p:txBody>
          <a:bodyPr/>
          <a:lstStyle/>
          <a:p>
            <a:r>
              <a:rPr lang="en-US" b="1" dirty="0"/>
              <a:t>Define the Right Problem</a:t>
            </a:r>
          </a:p>
          <a:p>
            <a:r>
              <a:rPr lang="en-US" dirty="0"/>
              <a:t>Not every problem needs AI.</a:t>
            </a:r>
          </a:p>
          <a:p>
            <a:r>
              <a:rPr lang="en-US" dirty="0"/>
              <a:t>Example:</a:t>
            </a:r>
          </a:p>
          <a:p>
            <a:r>
              <a:rPr lang="en-US" dirty="0"/>
              <a:t>Bad problem:</a:t>
            </a:r>
            <a:br>
              <a:rPr lang="en-US" dirty="0"/>
            </a:br>
            <a:r>
              <a:rPr lang="en-US" dirty="0"/>
              <a:t>“Use AI for accounts payable”</a:t>
            </a:r>
          </a:p>
          <a:p>
            <a:r>
              <a:rPr lang="en-US" dirty="0"/>
              <a:t>Good problem:</a:t>
            </a:r>
            <a:br>
              <a:rPr lang="en-US" dirty="0"/>
            </a:br>
            <a:r>
              <a:rPr lang="en-US" dirty="0"/>
              <a:t>“Use AI to predict late supplier payments”</a:t>
            </a:r>
          </a:p>
          <a:p>
            <a:endParaRPr lang="en-IN" dirty="0"/>
          </a:p>
        </p:txBody>
      </p:sp>
    </p:spTree>
    <p:extLst>
      <p:ext uri="{BB962C8B-B14F-4D97-AF65-F5344CB8AC3E}">
        <p14:creationId xmlns:p14="http://schemas.microsoft.com/office/powerpoint/2010/main" val="3495981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7AD80-8CBC-922C-8136-14F565A37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8062D-F128-E30F-46B9-D0E9CEFFE8CB}"/>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359A38F6-FCB0-8221-B6E1-01D66BDEE896}"/>
              </a:ext>
            </a:extLst>
          </p:cNvPr>
          <p:cNvSpPr>
            <a:spLocks noGrp="1"/>
          </p:cNvSpPr>
          <p:nvPr>
            <p:ph idx="1"/>
          </p:nvPr>
        </p:nvSpPr>
        <p:spPr/>
        <p:txBody>
          <a:bodyPr>
            <a:normAutofit lnSpcReduction="10000"/>
          </a:bodyPr>
          <a:lstStyle/>
          <a:p>
            <a:r>
              <a:rPr lang="en-US" b="1" dirty="0"/>
              <a:t>3. Work with Data Teams</a:t>
            </a:r>
          </a:p>
          <a:p>
            <a:r>
              <a:rPr lang="en-US" dirty="0"/>
              <a:t>PMs collaborate with:</a:t>
            </a:r>
          </a:p>
          <a:p>
            <a:r>
              <a:rPr lang="en-US" dirty="0"/>
              <a:t>data scientists</a:t>
            </a:r>
          </a:p>
          <a:p>
            <a:r>
              <a:rPr lang="en-US" dirty="0"/>
              <a:t>engineers</a:t>
            </a:r>
          </a:p>
          <a:p>
            <a:r>
              <a:rPr lang="en-US" dirty="0"/>
              <a:t>compliance teams</a:t>
            </a:r>
          </a:p>
          <a:p>
            <a:r>
              <a:rPr lang="en-US" dirty="0"/>
              <a:t>They translate business needs into </a:t>
            </a:r>
            <a:r>
              <a:rPr lang="en-US" b="1" dirty="0"/>
              <a:t>data-driven features</a:t>
            </a:r>
            <a:r>
              <a:rPr lang="en-US" dirty="0"/>
              <a:t>.</a:t>
            </a:r>
          </a:p>
          <a:p>
            <a:r>
              <a:rPr lang="en-US" dirty="0"/>
              <a:t>Example:</a:t>
            </a:r>
          </a:p>
          <a:p>
            <a:r>
              <a:rPr lang="en-US" dirty="0"/>
              <a:t>Business Need → Reduce loan defaults</a:t>
            </a:r>
            <a:br>
              <a:rPr lang="en-US" dirty="0"/>
            </a:br>
            <a:r>
              <a:rPr lang="en-US" dirty="0"/>
              <a:t>AI Feature → Loan risk prediction model</a:t>
            </a:r>
          </a:p>
          <a:p>
            <a:endParaRPr lang="en-IN" dirty="0"/>
          </a:p>
        </p:txBody>
      </p:sp>
    </p:spTree>
    <p:extLst>
      <p:ext uri="{BB962C8B-B14F-4D97-AF65-F5344CB8AC3E}">
        <p14:creationId xmlns:p14="http://schemas.microsoft.com/office/powerpoint/2010/main" val="24689365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C216F-3615-9F38-3337-0A13BB42D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ECBA8A-8C69-DB8B-E028-FEA5D4AB7F33}"/>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9B2C1E61-CCB9-FB13-D4E7-C4EFE3FF6545}"/>
              </a:ext>
            </a:extLst>
          </p:cNvPr>
          <p:cNvSpPr>
            <a:spLocks noGrp="1"/>
          </p:cNvSpPr>
          <p:nvPr>
            <p:ph idx="1"/>
          </p:nvPr>
        </p:nvSpPr>
        <p:spPr/>
        <p:txBody>
          <a:bodyPr>
            <a:normAutofit/>
          </a:bodyPr>
          <a:lstStyle/>
          <a:p>
            <a:r>
              <a:rPr lang="en-US" b="1" dirty="0"/>
              <a:t>Evaluate AI Performance</a:t>
            </a:r>
          </a:p>
          <a:p>
            <a:r>
              <a:rPr lang="en-US" dirty="0"/>
              <a:t>PMs must track:</a:t>
            </a:r>
          </a:p>
          <a:p>
            <a:r>
              <a:rPr lang="en-US" dirty="0"/>
              <a:t>accuracy</a:t>
            </a:r>
          </a:p>
          <a:p>
            <a:r>
              <a:rPr lang="en-US" dirty="0"/>
              <a:t>fairness</a:t>
            </a:r>
          </a:p>
          <a:p>
            <a:r>
              <a:rPr lang="en-US" dirty="0"/>
              <a:t>reliability</a:t>
            </a:r>
          </a:p>
          <a:p>
            <a:r>
              <a:rPr lang="en-US" dirty="0"/>
              <a:t>business impact</a:t>
            </a:r>
          </a:p>
          <a:p>
            <a:endParaRPr lang="en-IN" dirty="0"/>
          </a:p>
        </p:txBody>
      </p:sp>
    </p:spTree>
    <p:extLst>
      <p:ext uri="{BB962C8B-B14F-4D97-AF65-F5344CB8AC3E}">
        <p14:creationId xmlns:p14="http://schemas.microsoft.com/office/powerpoint/2010/main" val="900224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B01C-F4B6-1355-D849-A6230C4EB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25784-57B1-3B60-66E0-2D2FF576FF27}"/>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C35BC5BC-249B-0497-68D5-D6F01103CDA3}"/>
              </a:ext>
            </a:extLst>
          </p:cNvPr>
          <p:cNvSpPr>
            <a:spLocks noGrp="1"/>
          </p:cNvSpPr>
          <p:nvPr>
            <p:ph idx="1"/>
          </p:nvPr>
        </p:nvSpPr>
        <p:spPr/>
        <p:txBody>
          <a:bodyPr/>
          <a:lstStyle/>
          <a:p>
            <a:r>
              <a:rPr lang="en-US" dirty="0"/>
              <a:t>Example metrics:</a:t>
            </a:r>
          </a:p>
          <a:p>
            <a:r>
              <a:rPr lang="en-US" dirty="0"/>
              <a:t>fraud detection rate</a:t>
            </a:r>
          </a:p>
          <a:p>
            <a:r>
              <a:rPr lang="en-US" dirty="0"/>
              <a:t>reduction in manual review</a:t>
            </a:r>
          </a:p>
          <a:p>
            <a:r>
              <a:rPr lang="en-US" dirty="0"/>
              <a:t>improvement in approval time</a:t>
            </a:r>
          </a:p>
          <a:p>
            <a:endParaRPr lang="en-IN" dirty="0"/>
          </a:p>
        </p:txBody>
      </p:sp>
    </p:spTree>
    <p:extLst>
      <p:ext uri="{BB962C8B-B14F-4D97-AF65-F5344CB8AC3E}">
        <p14:creationId xmlns:p14="http://schemas.microsoft.com/office/powerpoint/2010/main" val="2742965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3B9DE-D6BE-079C-7C67-92933CB58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13D9FF-584A-F2E7-303A-27162D741235}"/>
              </a:ext>
            </a:extLst>
          </p:cNvPr>
          <p:cNvSpPr>
            <a:spLocks noGrp="1"/>
          </p:cNvSpPr>
          <p:nvPr>
            <p:ph type="title"/>
          </p:nvPr>
        </p:nvSpPr>
        <p:spPr/>
        <p:txBody>
          <a:bodyPr/>
          <a:lstStyle/>
          <a:p>
            <a:pPr algn="ctr"/>
            <a:r>
              <a:rPr lang="en-IN" b="1" dirty="0"/>
              <a:t>Key Responsibilities</a:t>
            </a:r>
          </a:p>
        </p:txBody>
      </p:sp>
      <p:sp>
        <p:nvSpPr>
          <p:cNvPr id="3" name="Content Placeholder 2">
            <a:extLst>
              <a:ext uri="{FF2B5EF4-FFF2-40B4-BE49-F238E27FC236}">
                <a16:creationId xmlns:a16="http://schemas.microsoft.com/office/drawing/2014/main" id="{4A7E30D6-27C8-05CA-5797-E1CD4282D45E}"/>
              </a:ext>
            </a:extLst>
          </p:cNvPr>
          <p:cNvSpPr>
            <a:spLocks noGrp="1"/>
          </p:cNvSpPr>
          <p:nvPr>
            <p:ph idx="1"/>
          </p:nvPr>
        </p:nvSpPr>
        <p:spPr/>
        <p:txBody>
          <a:bodyPr>
            <a:normAutofit lnSpcReduction="10000"/>
          </a:bodyPr>
          <a:lstStyle/>
          <a:p>
            <a:r>
              <a:rPr lang="en-US" b="1" dirty="0"/>
              <a:t>Ensure Responsible AI</a:t>
            </a:r>
          </a:p>
          <a:p>
            <a:r>
              <a:rPr lang="en-US" dirty="0"/>
              <a:t>Finance is highly regulated.</a:t>
            </a:r>
          </a:p>
          <a:p>
            <a:r>
              <a:rPr lang="en-US" dirty="0"/>
              <a:t>PMs must ensure:</a:t>
            </a:r>
          </a:p>
          <a:p>
            <a:r>
              <a:rPr lang="en-US" dirty="0"/>
              <a:t>fairness</a:t>
            </a:r>
          </a:p>
          <a:p>
            <a:r>
              <a:rPr lang="en-US" dirty="0"/>
              <a:t>transparency</a:t>
            </a:r>
          </a:p>
          <a:p>
            <a:r>
              <a:rPr lang="en-US" dirty="0"/>
              <a:t>explainability</a:t>
            </a:r>
          </a:p>
          <a:p>
            <a:r>
              <a:rPr lang="en-US" dirty="0"/>
              <a:t>compliance</a:t>
            </a:r>
          </a:p>
          <a:p>
            <a:r>
              <a:rPr lang="en-US" dirty="0"/>
              <a:t>Example:</a:t>
            </a:r>
            <a:br>
              <a:rPr lang="en-US" dirty="0"/>
            </a:br>
            <a:r>
              <a:rPr lang="en-US" dirty="0"/>
              <a:t>A bank must explain </a:t>
            </a:r>
            <a:r>
              <a:rPr lang="en-US" b="1" dirty="0"/>
              <a:t>why a loan was rejected</a:t>
            </a:r>
            <a:r>
              <a:rPr lang="en-US" dirty="0"/>
              <a:t>.</a:t>
            </a:r>
          </a:p>
          <a:p>
            <a:endParaRPr lang="en-IN" dirty="0"/>
          </a:p>
        </p:txBody>
      </p:sp>
    </p:spTree>
    <p:extLst>
      <p:ext uri="{BB962C8B-B14F-4D97-AF65-F5344CB8AC3E}">
        <p14:creationId xmlns:p14="http://schemas.microsoft.com/office/powerpoint/2010/main" val="2196877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51345-7EFB-E728-A637-A80242E007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EAF23-2647-A461-6776-3D0B4ADCED9D}"/>
              </a:ext>
            </a:extLst>
          </p:cNvPr>
          <p:cNvSpPr>
            <a:spLocks noGrp="1"/>
          </p:cNvSpPr>
          <p:nvPr>
            <p:ph type="title"/>
          </p:nvPr>
        </p:nvSpPr>
        <p:spPr/>
        <p:txBody>
          <a:bodyPr/>
          <a:lstStyle/>
          <a:p>
            <a:pPr algn="ctr"/>
            <a:r>
              <a:rPr lang="en-US" b="1" dirty="0"/>
              <a:t>How AI Impacts Key Finance Functions</a:t>
            </a:r>
            <a:endParaRPr lang="en-IN" b="1" dirty="0"/>
          </a:p>
        </p:txBody>
      </p:sp>
      <p:sp>
        <p:nvSpPr>
          <p:cNvPr id="3" name="Content Placeholder 2">
            <a:extLst>
              <a:ext uri="{FF2B5EF4-FFF2-40B4-BE49-F238E27FC236}">
                <a16:creationId xmlns:a16="http://schemas.microsoft.com/office/drawing/2014/main" id="{2E1E5D56-BDAB-3B07-1176-8F7E46A9DD72}"/>
              </a:ext>
            </a:extLst>
          </p:cNvPr>
          <p:cNvSpPr>
            <a:spLocks noGrp="1"/>
          </p:cNvSpPr>
          <p:nvPr>
            <p:ph idx="1"/>
          </p:nvPr>
        </p:nvSpPr>
        <p:spPr/>
        <p:txBody>
          <a:bodyPr>
            <a:normAutofit fontScale="85000" lnSpcReduction="20000"/>
          </a:bodyPr>
          <a:lstStyle/>
          <a:p>
            <a:r>
              <a:rPr lang="en-US" dirty="0"/>
              <a:t>AI affects multiple financial areas.</a:t>
            </a:r>
          </a:p>
          <a:p>
            <a:pPr marL="0" indent="0">
              <a:buNone/>
            </a:pPr>
            <a:endParaRPr lang="en-US" dirty="0"/>
          </a:p>
          <a:p>
            <a:r>
              <a:rPr lang="en-US" dirty="0"/>
              <a:t>Credit &amp; Lending</a:t>
            </a:r>
          </a:p>
          <a:p>
            <a:r>
              <a:rPr lang="en-US" dirty="0"/>
              <a:t>AI helps evaluate borrower risk more accurately.</a:t>
            </a:r>
          </a:p>
          <a:p>
            <a:r>
              <a:rPr lang="en-US" dirty="0"/>
              <a:t>Applications:</a:t>
            </a:r>
          </a:p>
          <a:p>
            <a:r>
              <a:rPr lang="en-US" dirty="0"/>
              <a:t>credit scoring</a:t>
            </a:r>
          </a:p>
          <a:p>
            <a:r>
              <a:rPr lang="en-US" dirty="0"/>
              <a:t>loan approval</a:t>
            </a:r>
          </a:p>
          <a:p>
            <a:r>
              <a:rPr lang="en-US" dirty="0"/>
              <a:t>default prediction</a:t>
            </a:r>
          </a:p>
          <a:p>
            <a:r>
              <a:rPr lang="en-US" dirty="0"/>
              <a:t>credit limit optimization</a:t>
            </a:r>
          </a:p>
          <a:p>
            <a:r>
              <a:rPr lang="en-US" dirty="0"/>
              <a:t>Example:</a:t>
            </a:r>
            <a:br>
              <a:rPr lang="en-US" dirty="0"/>
            </a:br>
            <a:r>
              <a:rPr lang="en-US" dirty="0"/>
              <a:t>AI predicts which borrowers are likely to miss payments.</a:t>
            </a:r>
          </a:p>
          <a:p>
            <a:endParaRPr lang="en-IN" dirty="0"/>
          </a:p>
        </p:txBody>
      </p:sp>
    </p:spTree>
    <p:extLst>
      <p:ext uri="{BB962C8B-B14F-4D97-AF65-F5344CB8AC3E}">
        <p14:creationId xmlns:p14="http://schemas.microsoft.com/office/powerpoint/2010/main" val="3763301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611D-D51E-70ED-8763-93DA41FF8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04794-2352-0FF7-CE5A-0E29433B48D9}"/>
              </a:ext>
            </a:extLst>
          </p:cNvPr>
          <p:cNvSpPr>
            <a:spLocks noGrp="1"/>
          </p:cNvSpPr>
          <p:nvPr>
            <p:ph type="title"/>
          </p:nvPr>
        </p:nvSpPr>
        <p:spPr/>
        <p:txBody>
          <a:bodyPr/>
          <a:lstStyle/>
          <a:p>
            <a:pPr algn="ctr"/>
            <a:r>
              <a:rPr lang="en-IN" b="1" dirty="0"/>
              <a:t>Payments</a:t>
            </a:r>
          </a:p>
        </p:txBody>
      </p:sp>
      <p:sp>
        <p:nvSpPr>
          <p:cNvPr id="3" name="Content Placeholder 2">
            <a:extLst>
              <a:ext uri="{FF2B5EF4-FFF2-40B4-BE49-F238E27FC236}">
                <a16:creationId xmlns:a16="http://schemas.microsoft.com/office/drawing/2014/main" id="{82A86E04-515F-E91A-7F9F-7531BCC3FFA9}"/>
              </a:ext>
            </a:extLst>
          </p:cNvPr>
          <p:cNvSpPr>
            <a:spLocks noGrp="1"/>
          </p:cNvSpPr>
          <p:nvPr>
            <p:ph idx="1"/>
          </p:nvPr>
        </p:nvSpPr>
        <p:spPr/>
        <p:txBody>
          <a:bodyPr/>
          <a:lstStyle/>
          <a:p>
            <a:r>
              <a:rPr lang="en-US" dirty="0"/>
              <a:t>AI improves payment processing and fraud detection.</a:t>
            </a:r>
          </a:p>
          <a:p>
            <a:r>
              <a:rPr lang="en-US" dirty="0"/>
              <a:t>Applications:</a:t>
            </a:r>
          </a:p>
          <a:p>
            <a:r>
              <a:rPr lang="en-US" dirty="0"/>
              <a:t>transaction monitoring</a:t>
            </a:r>
          </a:p>
          <a:p>
            <a:r>
              <a:rPr lang="en-US" dirty="0"/>
              <a:t>payment authentication</a:t>
            </a:r>
          </a:p>
          <a:p>
            <a:r>
              <a:rPr lang="en-US" dirty="0"/>
              <a:t>anomaly detection</a:t>
            </a:r>
          </a:p>
          <a:p>
            <a:r>
              <a:rPr lang="en-US" dirty="0"/>
              <a:t>Example:</a:t>
            </a:r>
            <a:br>
              <a:rPr lang="en-US" dirty="0"/>
            </a:br>
            <a:r>
              <a:rPr lang="en-US" dirty="0"/>
              <a:t>AI detects suspicious card transactions instantly.</a:t>
            </a:r>
          </a:p>
          <a:p>
            <a:endParaRPr lang="en-IN" dirty="0"/>
          </a:p>
        </p:txBody>
      </p:sp>
    </p:spTree>
    <p:extLst>
      <p:ext uri="{BB962C8B-B14F-4D97-AF65-F5344CB8AC3E}">
        <p14:creationId xmlns:p14="http://schemas.microsoft.com/office/powerpoint/2010/main" val="3376201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79D1D-17CB-1F7D-6D84-4B8B1B5C5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A0EE4C-4294-F8B3-C31E-9F7B54AA7FDF}"/>
              </a:ext>
            </a:extLst>
          </p:cNvPr>
          <p:cNvSpPr>
            <a:spLocks noGrp="1"/>
          </p:cNvSpPr>
          <p:nvPr>
            <p:ph type="title"/>
          </p:nvPr>
        </p:nvSpPr>
        <p:spPr/>
        <p:txBody>
          <a:bodyPr/>
          <a:lstStyle/>
          <a:p>
            <a:pPr algn="ctr"/>
            <a:r>
              <a:rPr lang="en-IN" b="1" dirty="0"/>
              <a:t>Risk Management</a:t>
            </a:r>
          </a:p>
        </p:txBody>
      </p:sp>
      <p:sp>
        <p:nvSpPr>
          <p:cNvPr id="3" name="Content Placeholder 2">
            <a:extLst>
              <a:ext uri="{FF2B5EF4-FFF2-40B4-BE49-F238E27FC236}">
                <a16:creationId xmlns:a16="http://schemas.microsoft.com/office/drawing/2014/main" id="{7D48CC73-B519-9309-D944-618F21502AC3}"/>
              </a:ext>
            </a:extLst>
          </p:cNvPr>
          <p:cNvSpPr>
            <a:spLocks noGrp="1"/>
          </p:cNvSpPr>
          <p:nvPr>
            <p:ph idx="1"/>
          </p:nvPr>
        </p:nvSpPr>
        <p:spPr/>
        <p:txBody>
          <a:bodyPr/>
          <a:lstStyle/>
          <a:p>
            <a:r>
              <a:rPr lang="en-IN" dirty="0"/>
              <a:t>AI helps identify financial risks earlier.</a:t>
            </a:r>
          </a:p>
          <a:p>
            <a:r>
              <a:rPr lang="en-IN" dirty="0"/>
              <a:t>Applications:</a:t>
            </a:r>
          </a:p>
          <a:p>
            <a:r>
              <a:rPr lang="en-IN" dirty="0"/>
              <a:t>portfolio risk analysis</a:t>
            </a:r>
          </a:p>
          <a:p>
            <a:r>
              <a:rPr lang="en-IN" dirty="0"/>
              <a:t>liquidity risk prediction</a:t>
            </a:r>
          </a:p>
          <a:p>
            <a:r>
              <a:rPr lang="en-IN" dirty="0"/>
              <a:t>market volatility detection</a:t>
            </a:r>
          </a:p>
          <a:p>
            <a:r>
              <a:rPr lang="en-IN" dirty="0"/>
              <a:t>Example:</a:t>
            </a:r>
            <a:br>
              <a:rPr lang="en-IN" dirty="0"/>
            </a:br>
            <a:r>
              <a:rPr lang="en-IN" dirty="0"/>
              <a:t>AI predicts </a:t>
            </a:r>
            <a:r>
              <a:rPr lang="en-IN" b="1" dirty="0"/>
              <a:t>risk exposure in loan portfolios</a:t>
            </a:r>
            <a:r>
              <a:rPr lang="en-IN" dirty="0"/>
              <a:t>.</a:t>
            </a:r>
          </a:p>
          <a:p>
            <a:pPr marL="0" indent="0">
              <a:buNone/>
            </a:pPr>
            <a:endParaRPr lang="en-IN" dirty="0"/>
          </a:p>
        </p:txBody>
      </p:sp>
    </p:spTree>
    <p:extLst>
      <p:ext uri="{BB962C8B-B14F-4D97-AF65-F5344CB8AC3E}">
        <p14:creationId xmlns:p14="http://schemas.microsoft.com/office/powerpoint/2010/main" val="154834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3D53-7934-6435-B885-3DB40C9A0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6DA2B-DF9D-92F0-2928-C158D1964533}"/>
              </a:ext>
            </a:extLst>
          </p:cNvPr>
          <p:cNvSpPr>
            <a:spLocks noGrp="1"/>
          </p:cNvSpPr>
          <p:nvPr>
            <p:ph type="title"/>
          </p:nvPr>
        </p:nvSpPr>
        <p:spPr/>
        <p:txBody>
          <a:bodyPr/>
          <a:lstStyle/>
          <a:p>
            <a:pPr algn="ctr"/>
            <a:r>
              <a:rPr lang="en-IN" b="1" dirty="0"/>
              <a:t>Compliance</a:t>
            </a:r>
          </a:p>
        </p:txBody>
      </p:sp>
      <p:sp>
        <p:nvSpPr>
          <p:cNvPr id="3" name="Content Placeholder 2">
            <a:extLst>
              <a:ext uri="{FF2B5EF4-FFF2-40B4-BE49-F238E27FC236}">
                <a16:creationId xmlns:a16="http://schemas.microsoft.com/office/drawing/2014/main" id="{00343212-11B1-74FF-13F7-21B785082158}"/>
              </a:ext>
            </a:extLst>
          </p:cNvPr>
          <p:cNvSpPr>
            <a:spLocks noGrp="1"/>
          </p:cNvSpPr>
          <p:nvPr>
            <p:ph idx="1"/>
          </p:nvPr>
        </p:nvSpPr>
        <p:spPr/>
        <p:txBody>
          <a:bodyPr/>
          <a:lstStyle/>
          <a:p>
            <a:r>
              <a:rPr lang="en-IN" dirty="0"/>
              <a:t>Financial institutions must follow strict regulations.</a:t>
            </a:r>
          </a:p>
          <a:p>
            <a:r>
              <a:rPr lang="en-IN" dirty="0"/>
              <a:t>AI helps monitor compliance.</a:t>
            </a:r>
          </a:p>
          <a:p>
            <a:r>
              <a:rPr lang="en-IN" dirty="0"/>
              <a:t>Applications:</a:t>
            </a:r>
          </a:p>
          <a:p>
            <a:r>
              <a:rPr lang="en-IN" dirty="0"/>
              <a:t>AML (Anti-Money Laundering)</a:t>
            </a:r>
          </a:p>
          <a:p>
            <a:r>
              <a:rPr lang="en-IN" dirty="0"/>
              <a:t>transaction monitoring</a:t>
            </a:r>
          </a:p>
          <a:p>
            <a:r>
              <a:rPr lang="en-IN" dirty="0"/>
              <a:t>regulatory reporting</a:t>
            </a:r>
          </a:p>
          <a:p>
            <a:r>
              <a:rPr lang="en-IN" dirty="0"/>
              <a:t>Example:</a:t>
            </a:r>
            <a:br>
              <a:rPr lang="en-IN" dirty="0"/>
            </a:br>
            <a:r>
              <a:rPr lang="en-IN" dirty="0"/>
              <a:t>AI flags </a:t>
            </a:r>
            <a:r>
              <a:rPr lang="en-IN" b="1" dirty="0"/>
              <a:t>suspicious transactions linked to money laundering</a:t>
            </a:r>
            <a:r>
              <a:rPr lang="en-IN" dirty="0"/>
              <a:t>.</a:t>
            </a:r>
          </a:p>
          <a:p>
            <a:endParaRPr lang="en-IN" dirty="0"/>
          </a:p>
        </p:txBody>
      </p:sp>
    </p:spTree>
    <p:extLst>
      <p:ext uri="{BB962C8B-B14F-4D97-AF65-F5344CB8AC3E}">
        <p14:creationId xmlns:p14="http://schemas.microsoft.com/office/powerpoint/2010/main" val="3119196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CF151-2E15-FCB7-FB6C-124E17C52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28500-BC4F-766E-F003-EBC34D0CEE21}"/>
              </a:ext>
            </a:extLst>
          </p:cNvPr>
          <p:cNvSpPr>
            <a:spLocks noGrp="1"/>
          </p:cNvSpPr>
          <p:nvPr>
            <p:ph type="title"/>
          </p:nvPr>
        </p:nvSpPr>
        <p:spPr/>
        <p:txBody>
          <a:bodyPr/>
          <a:lstStyle/>
          <a:p>
            <a:pPr algn="ctr"/>
            <a:r>
              <a:rPr lang="en-IN" b="1" dirty="0"/>
              <a:t>Finance Operations</a:t>
            </a:r>
          </a:p>
        </p:txBody>
      </p:sp>
      <p:sp>
        <p:nvSpPr>
          <p:cNvPr id="3" name="Content Placeholder 2">
            <a:extLst>
              <a:ext uri="{FF2B5EF4-FFF2-40B4-BE49-F238E27FC236}">
                <a16:creationId xmlns:a16="http://schemas.microsoft.com/office/drawing/2014/main" id="{EBF5B76E-63C0-5CB0-9905-EF45BAAA1579}"/>
              </a:ext>
            </a:extLst>
          </p:cNvPr>
          <p:cNvSpPr>
            <a:spLocks noGrp="1"/>
          </p:cNvSpPr>
          <p:nvPr>
            <p:ph idx="1"/>
          </p:nvPr>
        </p:nvSpPr>
        <p:spPr/>
        <p:txBody>
          <a:bodyPr>
            <a:normAutofit fontScale="92500" lnSpcReduction="20000"/>
          </a:bodyPr>
          <a:lstStyle/>
          <a:p>
            <a:r>
              <a:rPr lang="en-IN" dirty="0"/>
              <a:t>AI automates operational processes.</a:t>
            </a:r>
          </a:p>
          <a:p>
            <a:r>
              <a:rPr lang="en-IN" dirty="0"/>
              <a:t>Applications:</a:t>
            </a:r>
          </a:p>
          <a:p>
            <a:r>
              <a:rPr lang="en-IN" dirty="0"/>
              <a:t>invoice processing</a:t>
            </a:r>
          </a:p>
          <a:p>
            <a:r>
              <a:rPr lang="en-IN" dirty="0"/>
              <a:t>reconciliation</a:t>
            </a:r>
          </a:p>
          <a:p>
            <a:r>
              <a:rPr lang="en-IN" dirty="0"/>
              <a:t>expense auditing</a:t>
            </a:r>
          </a:p>
          <a:p>
            <a:r>
              <a:rPr lang="en-IN" dirty="0"/>
              <a:t>document processing</a:t>
            </a:r>
          </a:p>
          <a:p>
            <a:r>
              <a:rPr lang="en-US" dirty="0"/>
              <a:t>Example:</a:t>
            </a:r>
            <a:br>
              <a:rPr lang="en-US" dirty="0"/>
            </a:br>
            <a:r>
              <a:rPr lang="en-US" dirty="0"/>
              <a:t>AI reads invoices and automatically extracts:</a:t>
            </a:r>
          </a:p>
          <a:p>
            <a:r>
              <a:rPr lang="en-US" dirty="0"/>
              <a:t>vendor name</a:t>
            </a:r>
          </a:p>
          <a:p>
            <a:r>
              <a:rPr lang="en-US" dirty="0"/>
              <a:t>amount</a:t>
            </a:r>
          </a:p>
          <a:p>
            <a:r>
              <a:rPr lang="en-US" dirty="0"/>
              <a:t>due date</a:t>
            </a:r>
          </a:p>
          <a:p>
            <a:endParaRPr lang="en-IN" dirty="0"/>
          </a:p>
        </p:txBody>
      </p:sp>
    </p:spTree>
    <p:extLst>
      <p:ext uri="{BB962C8B-B14F-4D97-AF65-F5344CB8AC3E}">
        <p14:creationId xmlns:p14="http://schemas.microsoft.com/office/powerpoint/2010/main" val="2534711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E1573-2075-6AFD-33A1-981906FE1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04A64-2E85-326F-43E3-D15CCB6BB588}"/>
              </a:ext>
            </a:extLst>
          </p:cNvPr>
          <p:cNvSpPr>
            <a:spLocks noGrp="1"/>
          </p:cNvSpPr>
          <p:nvPr>
            <p:ph type="title"/>
          </p:nvPr>
        </p:nvSpPr>
        <p:spPr/>
        <p:txBody>
          <a:bodyPr/>
          <a:lstStyle/>
          <a:p>
            <a:pPr algn="ctr"/>
            <a:r>
              <a:rPr lang="en-IN" b="1" dirty="0"/>
              <a:t>As an AIPM</a:t>
            </a:r>
          </a:p>
        </p:txBody>
      </p:sp>
      <p:sp>
        <p:nvSpPr>
          <p:cNvPr id="3" name="Content Placeholder 2">
            <a:extLst>
              <a:ext uri="{FF2B5EF4-FFF2-40B4-BE49-F238E27FC236}">
                <a16:creationId xmlns:a16="http://schemas.microsoft.com/office/drawing/2014/main" id="{1FEA3427-EBEB-AC20-588B-6AFEB4233F62}"/>
              </a:ext>
            </a:extLst>
          </p:cNvPr>
          <p:cNvSpPr>
            <a:spLocks noGrp="1"/>
          </p:cNvSpPr>
          <p:nvPr>
            <p:ph idx="1"/>
          </p:nvPr>
        </p:nvSpPr>
        <p:spPr/>
        <p:txBody>
          <a:bodyPr>
            <a:normAutofit lnSpcReduction="10000"/>
          </a:bodyPr>
          <a:lstStyle/>
          <a:p>
            <a:r>
              <a:rPr lang="en-US" dirty="0"/>
              <a:t>AI is transforming finance from:</a:t>
            </a:r>
          </a:p>
          <a:p>
            <a:r>
              <a:rPr lang="en-US" b="1" dirty="0"/>
              <a:t>Manual → Automated</a:t>
            </a:r>
            <a:endParaRPr lang="en-US" dirty="0"/>
          </a:p>
          <a:p>
            <a:r>
              <a:rPr lang="en-US" b="1" dirty="0"/>
              <a:t>Reactive → Predictive</a:t>
            </a:r>
            <a:endParaRPr lang="en-US" dirty="0"/>
          </a:p>
          <a:p>
            <a:r>
              <a:rPr lang="en-US" b="1" dirty="0"/>
              <a:t>Rule-based → Intelligent</a:t>
            </a:r>
            <a:endParaRPr lang="en-US" dirty="0"/>
          </a:p>
          <a:p>
            <a:r>
              <a:rPr lang="en-US" dirty="0"/>
              <a:t>For finance professionals and product managers, the goal is not to build AI models but to:</a:t>
            </a:r>
          </a:p>
          <a:p>
            <a:r>
              <a:rPr lang="en-US" dirty="0"/>
              <a:t>✔ Identify valuable problems</a:t>
            </a:r>
            <a:br>
              <a:rPr lang="en-US" dirty="0"/>
            </a:br>
            <a:r>
              <a:rPr lang="en-US" dirty="0"/>
              <a:t>✔ Understand data opportunities</a:t>
            </a:r>
            <a:br>
              <a:rPr lang="en-US" dirty="0"/>
            </a:br>
            <a:r>
              <a:rPr lang="en-US" dirty="0"/>
              <a:t>✔ Design AI-enabled financial products</a:t>
            </a:r>
            <a:br>
              <a:rPr lang="en-US" dirty="0"/>
            </a:br>
            <a:r>
              <a:rPr lang="en-US" dirty="0"/>
              <a:t>✔ Ensure governance and trust</a:t>
            </a:r>
          </a:p>
          <a:p>
            <a:endParaRPr lang="en-IN" dirty="0"/>
          </a:p>
        </p:txBody>
      </p:sp>
    </p:spTree>
    <p:extLst>
      <p:ext uri="{BB962C8B-B14F-4D97-AF65-F5344CB8AC3E}">
        <p14:creationId xmlns:p14="http://schemas.microsoft.com/office/powerpoint/2010/main" val="1277257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4D571-203F-AF78-9D7C-706BC217B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D94688-476F-74F6-A240-615CDDFD3F00}"/>
              </a:ext>
            </a:extLst>
          </p:cNvPr>
          <p:cNvSpPr>
            <a:spLocks noGrp="1"/>
          </p:cNvSpPr>
          <p:nvPr>
            <p:ph type="title"/>
          </p:nvPr>
        </p:nvSpPr>
        <p:spPr/>
        <p:txBody>
          <a:bodyPr/>
          <a:lstStyle/>
          <a:p>
            <a:r>
              <a:rPr lang="en-IN" b="1" dirty="0"/>
              <a:t>Understanding AI Product Management</a:t>
            </a:r>
          </a:p>
        </p:txBody>
      </p:sp>
      <p:sp>
        <p:nvSpPr>
          <p:cNvPr id="3" name="Content Placeholder 2">
            <a:extLst>
              <a:ext uri="{FF2B5EF4-FFF2-40B4-BE49-F238E27FC236}">
                <a16:creationId xmlns:a16="http://schemas.microsoft.com/office/drawing/2014/main" id="{59E7C6CB-8C67-1367-D44B-1802454A47E5}"/>
              </a:ext>
            </a:extLst>
          </p:cNvPr>
          <p:cNvSpPr>
            <a:spLocks noGrp="1"/>
          </p:cNvSpPr>
          <p:nvPr>
            <p:ph idx="1"/>
          </p:nvPr>
        </p:nvSpPr>
        <p:spPr/>
        <p:txBody>
          <a:bodyPr>
            <a:normAutofit fontScale="92500" lnSpcReduction="10000"/>
          </a:bodyPr>
          <a:lstStyle/>
          <a:p>
            <a:pPr>
              <a:lnSpc>
                <a:spcPct val="150000"/>
              </a:lnSpc>
            </a:pPr>
            <a:r>
              <a:rPr lang="en-US" dirty="0"/>
              <a:t>AI Product Management is about designing products that use AI to improve decisions, automate processes, and create better financial experiences for customers.</a:t>
            </a:r>
          </a:p>
          <a:p>
            <a:pPr>
              <a:lnSpc>
                <a:spcPct val="150000"/>
              </a:lnSpc>
            </a:pPr>
            <a:r>
              <a:rPr lang="en-US" dirty="0"/>
              <a:t>Unlike traditional software products, AI products learn from data and evolve over time.</a:t>
            </a:r>
            <a:br>
              <a:rPr lang="en-US" dirty="0"/>
            </a:br>
            <a:r>
              <a:rPr lang="en-US" dirty="0"/>
              <a:t>Because of this, Product Managers must understand how AI behaves, what it can do well, and where it may fail.</a:t>
            </a:r>
          </a:p>
          <a:p>
            <a:pPr>
              <a:lnSpc>
                <a:spcPct val="150000"/>
              </a:lnSpc>
            </a:pPr>
            <a:endParaRPr lang="en-IN" dirty="0"/>
          </a:p>
        </p:txBody>
      </p:sp>
    </p:spTree>
    <p:extLst>
      <p:ext uri="{BB962C8B-B14F-4D97-AF65-F5344CB8AC3E}">
        <p14:creationId xmlns:p14="http://schemas.microsoft.com/office/powerpoint/2010/main" val="2208484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69A1D-AEC3-E03C-E7EA-B49715C8A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877EA-04C8-AF02-B62A-8E11C3E05FD7}"/>
              </a:ext>
            </a:extLst>
          </p:cNvPr>
          <p:cNvSpPr>
            <a:spLocks noGrp="1"/>
          </p:cNvSpPr>
          <p:nvPr>
            <p:ph type="title"/>
          </p:nvPr>
        </p:nvSpPr>
        <p:spPr/>
        <p:txBody>
          <a:bodyPr>
            <a:noAutofit/>
          </a:bodyPr>
          <a:lstStyle/>
          <a:p>
            <a:pPr algn="ctr"/>
            <a:br>
              <a:rPr lang="en-US" sz="3600" b="1" dirty="0"/>
            </a:br>
            <a:r>
              <a:rPr lang="en-US" sz="3600" b="1" dirty="0"/>
              <a:t>Why Product Managers Need to Understand AI Behaviour</a:t>
            </a:r>
            <a:br>
              <a:rPr lang="en-US" sz="3600" b="1" dirty="0"/>
            </a:br>
            <a:endParaRPr lang="en-IN" sz="3600" dirty="0"/>
          </a:p>
        </p:txBody>
      </p:sp>
      <p:sp>
        <p:nvSpPr>
          <p:cNvPr id="3" name="Content Placeholder 2">
            <a:extLst>
              <a:ext uri="{FF2B5EF4-FFF2-40B4-BE49-F238E27FC236}">
                <a16:creationId xmlns:a16="http://schemas.microsoft.com/office/drawing/2014/main" id="{3ABFB7D3-71AF-A561-3397-8CB5964CBEC4}"/>
              </a:ext>
            </a:extLst>
          </p:cNvPr>
          <p:cNvSpPr>
            <a:spLocks noGrp="1"/>
          </p:cNvSpPr>
          <p:nvPr>
            <p:ph idx="1"/>
          </p:nvPr>
        </p:nvSpPr>
        <p:spPr/>
        <p:txBody>
          <a:bodyPr/>
          <a:lstStyle/>
          <a:p>
            <a:r>
              <a:rPr lang="en-US" dirty="0"/>
              <a:t>Traditional software behaves predictably.</a:t>
            </a:r>
          </a:p>
          <a:p>
            <a:r>
              <a:rPr lang="en-US" dirty="0"/>
              <a:t>Example:</a:t>
            </a:r>
          </a:p>
          <a:p>
            <a:r>
              <a:rPr lang="en-US" dirty="0"/>
              <a:t>If payment amount &gt; ₹1,00,000 → send approval request</a:t>
            </a:r>
          </a:p>
          <a:p>
            <a:r>
              <a:rPr lang="en-US" dirty="0"/>
              <a:t>The output is always the same.</a:t>
            </a:r>
          </a:p>
          <a:p>
            <a:r>
              <a:rPr lang="en-US" dirty="0"/>
              <a:t>AI systems behave differently.</a:t>
            </a:r>
          </a:p>
          <a:p>
            <a:r>
              <a:rPr lang="en-US" dirty="0"/>
              <a:t>AI learns patterns from historical data and then makes predictions or classifications.</a:t>
            </a:r>
            <a:br>
              <a:rPr lang="en-US" dirty="0"/>
            </a:br>
            <a:r>
              <a:rPr lang="en-US" dirty="0"/>
              <a:t>Because of this, the output may change as the model learns new patterns.</a:t>
            </a:r>
          </a:p>
          <a:p>
            <a:endParaRPr lang="en-IN" dirty="0"/>
          </a:p>
        </p:txBody>
      </p:sp>
    </p:spTree>
    <p:extLst>
      <p:ext uri="{BB962C8B-B14F-4D97-AF65-F5344CB8AC3E}">
        <p14:creationId xmlns:p14="http://schemas.microsoft.com/office/powerpoint/2010/main" val="1782931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D41C4-2D10-960C-5413-794926B42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7B317-DD2B-A266-068B-B6D46ED87F15}"/>
              </a:ext>
            </a:extLst>
          </p:cNvPr>
          <p:cNvSpPr>
            <a:spLocks noGrp="1"/>
          </p:cNvSpPr>
          <p:nvPr>
            <p:ph type="title"/>
          </p:nvPr>
        </p:nvSpPr>
        <p:spPr/>
        <p:txBody>
          <a:bodyPr/>
          <a:lstStyle/>
          <a:p>
            <a:pPr algn="ctr"/>
            <a:r>
              <a:rPr lang="en-US" b="1" dirty="0"/>
              <a:t>Example in finance:</a:t>
            </a:r>
            <a:br>
              <a:rPr lang="en-US" b="1" dirty="0"/>
            </a:br>
            <a:endParaRPr lang="en-IN" b="1" dirty="0"/>
          </a:p>
        </p:txBody>
      </p:sp>
      <p:sp>
        <p:nvSpPr>
          <p:cNvPr id="3" name="Content Placeholder 2">
            <a:extLst>
              <a:ext uri="{FF2B5EF4-FFF2-40B4-BE49-F238E27FC236}">
                <a16:creationId xmlns:a16="http://schemas.microsoft.com/office/drawing/2014/main" id="{EBA17FF9-ED3A-8F48-32F5-BA7CA5AAFFE2}"/>
              </a:ext>
            </a:extLst>
          </p:cNvPr>
          <p:cNvSpPr>
            <a:spLocks noGrp="1"/>
          </p:cNvSpPr>
          <p:nvPr>
            <p:ph idx="1"/>
          </p:nvPr>
        </p:nvSpPr>
        <p:spPr/>
        <p:txBody>
          <a:bodyPr>
            <a:normAutofit fontScale="92500" lnSpcReduction="10000"/>
          </a:bodyPr>
          <a:lstStyle/>
          <a:p>
            <a:r>
              <a:rPr lang="en-US" dirty="0"/>
              <a:t>Traditional rule:</a:t>
            </a:r>
          </a:p>
          <a:p>
            <a:r>
              <a:rPr lang="en-US" dirty="0"/>
              <a:t>Reject loan if credit score &lt; 650</a:t>
            </a:r>
          </a:p>
          <a:p>
            <a:r>
              <a:rPr lang="en-US" dirty="0"/>
              <a:t>AI-based evaluation considers many factors:</a:t>
            </a:r>
          </a:p>
          <a:p>
            <a:r>
              <a:rPr lang="en-US" dirty="0"/>
              <a:t>spending behavior</a:t>
            </a:r>
          </a:p>
          <a:p>
            <a:r>
              <a:rPr lang="en-US" dirty="0"/>
              <a:t>repayment patterns</a:t>
            </a:r>
          </a:p>
          <a:p>
            <a:r>
              <a:rPr lang="en-US" dirty="0"/>
              <a:t>income consistency</a:t>
            </a:r>
          </a:p>
          <a:p>
            <a:r>
              <a:rPr lang="en-US" dirty="0"/>
              <a:t>transaction patterns</a:t>
            </a:r>
          </a:p>
          <a:p>
            <a:r>
              <a:rPr lang="en-US" dirty="0"/>
              <a:t>previous defaults</a:t>
            </a:r>
          </a:p>
          <a:p>
            <a:r>
              <a:rPr lang="en-US" dirty="0"/>
              <a:t>AI may approve a borrower </a:t>
            </a:r>
            <a:r>
              <a:rPr lang="en-US" b="1" dirty="0"/>
              <a:t>even if their credit score is slightly lower</a:t>
            </a:r>
            <a:r>
              <a:rPr lang="en-US" dirty="0"/>
              <a:t>, because other signals suggest low risk.</a:t>
            </a:r>
          </a:p>
          <a:p>
            <a:endParaRPr lang="en-IN" dirty="0"/>
          </a:p>
        </p:txBody>
      </p:sp>
    </p:spTree>
    <p:extLst>
      <p:ext uri="{BB962C8B-B14F-4D97-AF65-F5344CB8AC3E}">
        <p14:creationId xmlns:p14="http://schemas.microsoft.com/office/powerpoint/2010/main" val="3412892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3EADE-28AF-538E-C0AE-8B31FF168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BD31C-9B9A-D4F3-B8DF-6B682E4DC759}"/>
              </a:ext>
            </a:extLst>
          </p:cNvPr>
          <p:cNvSpPr>
            <a:spLocks noGrp="1"/>
          </p:cNvSpPr>
          <p:nvPr>
            <p:ph type="title"/>
          </p:nvPr>
        </p:nvSpPr>
        <p:spPr/>
        <p:txBody>
          <a:bodyPr/>
          <a:lstStyle/>
          <a:p>
            <a:pPr algn="ctr"/>
            <a:r>
              <a:rPr lang="en-US" b="1" dirty="0"/>
              <a:t>Why PMs Must Understand AI Behaviour</a:t>
            </a:r>
            <a:endParaRPr lang="en-IN" b="1" dirty="0"/>
          </a:p>
        </p:txBody>
      </p:sp>
      <p:sp>
        <p:nvSpPr>
          <p:cNvPr id="3" name="Content Placeholder 2">
            <a:extLst>
              <a:ext uri="{FF2B5EF4-FFF2-40B4-BE49-F238E27FC236}">
                <a16:creationId xmlns:a16="http://schemas.microsoft.com/office/drawing/2014/main" id="{58AA8019-551F-D002-8A41-C4112256436D}"/>
              </a:ext>
            </a:extLst>
          </p:cNvPr>
          <p:cNvSpPr>
            <a:spLocks noGrp="1"/>
          </p:cNvSpPr>
          <p:nvPr>
            <p:ph idx="1"/>
          </p:nvPr>
        </p:nvSpPr>
        <p:spPr/>
        <p:txBody>
          <a:bodyPr/>
          <a:lstStyle/>
          <a:p>
            <a:r>
              <a:rPr lang="en-US" dirty="0"/>
              <a:t>Product Managers are responsible for </a:t>
            </a:r>
            <a:r>
              <a:rPr lang="en-US" b="1" dirty="0"/>
              <a:t>product decisions</a:t>
            </a:r>
            <a:r>
              <a:rPr lang="en-US" dirty="0"/>
              <a:t>, not technical model building.</a:t>
            </a:r>
          </a:p>
          <a:p>
            <a:r>
              <a:rPr lang="en-US" dirty="0"/>
              <a:t>But You must understand:</a:t>
            </a:r>
          </a:p>
          <a:p>
            <a:endParaRPr lang="en-IN" dirty="0"/>
          </a:p>
        </p:txBody>
      </p:sp>
    </p:spTree>
    <p:extLst>
      <p:ext uri="{BB962C8B-B14F-4D97-AF65-F5344CB8AC3E}">
        <p14:creationId xmlns:p14="http://schemas.microsoft.com/office/powerpoint/2010/main" val="3918888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8E97F-8FBB-A183-C682-B591B16A6AC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C89615-F635-582B-4749-650AE02603E1}"/>
              </a:ext>
            </a:extLst>
          </p:cNvPr>
          <p:cNvSpPr>
            <a:spLocks noGrp="1"/>
          </p:cNvSpPr>
          <p:nvPr>
            <p:ph idx="1"/>
          </p:nvPr>
        </p:nvSpPr>
        <p:spPr/>
        <p:txBody>
          <a:bodyPr/>
          <a:lstStyle/>
          <a:p>
            <a:r>
              <a:rPr lang="en-US" b="1" dirty="0"/>
              <a:t>AI is not always 100% accurate</a:t>
            </a:r>
            <a:endParaRPr lang="en-US" dirty="0"/>
          </a:p>
          <a:p>
            <a:r>
              <a:rPr lang="en-US" dirty="0"/>
              <a:t>Example:</a:t>
            </a:r>
            <a:br>
              <a:rPr lang="en-US" dirty="0"/>
            </a:br>
            <a:r>
              <a:rPr lang="en-US" dirty="0"/>
              <a:t>A fraud model may detect </a:t>
            </a:r>
            <a:r>
              <a:rPr lang="en-US" b="1" dirty="0"/>
              <a:t>92% of fraud cases</a:t>
            </a:r>
            <a:r>
              <a:rPr lang="en-US" dirty="0"/>
              <a:t>, but </a:t>
            </a:r>
            <a:r>
              <a:rPr lang="en-US" b="1" dirty="0"/>
              <a:t>8% may still slip through</a:t>
            </a:r>
            <a:r>
              <a:rPr lang="en-US" dirty="0"/>
              <a:t>.</a:t>
            </a:r>
          </a:p>
          <a:p>
            <a:r>
              <a:rPr lang="en-US" dirty="0"/>
              <a:t>PMs must decide:</a:t>
            </a:r>
          </a:p>
          <a:p>
            <a:r>
              <a:rPr lang="en-US" dirty="0"/>
              <a:t>Is this accuracy acceptable?</a:t>
            </a:r>
          </a:p>
          <a:p>
            <a:r>
              <a:rPr lang="en-US" dirty="0"/>
              <a:t>Should we add human review?</a:t>
            </a:r>
          </a:p>
          <a:p>
            <a:endParaRPr lang="en-IN" dirty="0"/>
          </a:p>
        </p:txBody>
      </p:sp>
    </p:spTree>
    <p:extLst>
      <p:ext uri="{BB962C8B-B14F-4D97-AF65-F5344CB8AC3E}">
        <p14:creationId xmlns:p14="http://schemas.microsoft.com/office/powerpoint/2010/main" val="6576225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7FE3A-EF9D-798C-45AC-670DD6774B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EC19DE-94C7-BC65-7C39-79C89EA4B274}"/>
              </a:ext>
            </a:extLst>
          </p:cNvPr>
          <p:cNvSpPr>
            <a:spLocks noGrp="1"/>
          </p:cNvSpPr>
          <p:nvPr>
            <p:ph idx="1"/>
          </p:nvPr>
        </p:nvSpPr>
        <p:spPr/>
        <p:txBody>
          <a:bodyPr/>
          <a:lstStyle/>
          <a:p>
            <a:r>
              <a:rPr lang="en-US" b="1" dirty="0"/>
              <a:t>AI depends heavily on data quality</a:t>
            </a:r>
            <a:endParaRPr lang="en-US" dirty="0"/>
          </a:p>
          <a:p>
            <a:r>
              <a:rPr lang="en-US" dirty="0"/>
              <a:t>If data is incomplete or biased, AI decisions will also be biased.</a:t>
            </a:r>
          </a:p>
          <a:p>
            <a:r>
              <a:rPr lang="en-US" dirty="0"/>
              <a:t>Example:</a:t>
            </a:r>
            <a:br>
              <a:rPr lang="en-US" dirty="0"/>
            </a:br>
            <a:r>
              <a:rPr lang="en-US" dirty="0"/>
              <a:t>If historical loan data excludes certain customer groups, the model may unfairly reject them.</a:t>
            </a:r>
          </a:p>
          <a:p>
            <a:endParaRPr lang="en-IN" dirty="0"/>
          </a:p>
        </p:txBody>
      </p:sp>
    </p:spTree>
    <p:extLst>
      <p:ext uri="{BB962C8B-B14F-4D97-AF65-F5344CB8AC3E}">
        <p14:creationId xmlns:p14="http://schemas.microsoft.com/office/powerpoint/2010/main" val="3072443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A0634-42A6-B7D7-5145-04646EE178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F808A5-A8DC-AD6E-D889-DF19F7126070}"/>
              </a:ext>
            </a:extLst>
          </p:cNvPr>
          <p:cNvSpPr>
            <a:spLocks noGrp="1"/>
          </p:cNvSpPr>
          <p:nvPr>
            <p:ph idx="1"/>
          </p:nvPr>
        </p:nvSpPr>
        <p:spPr/>
        <p:txBody>
          <a:bodyPr/>
          <a:lstStyle/>
          <a:p>
            <a:r>
              <a:rPr lang="en-US" b="1" dirty="0"/>
              <a:t>AI models degrade over time</a:t>
            </a:r>
            <a:endParaRPr lang="en-US" dirty="0"/>
          </a:p>
          <a:p>
            <a:r>
              <a:rPr lang="en-US" dirty="0"/>
              <a:t>Customer behavior changes.</a:t>
            </a:r>
          </a:p>
          <a:p>
            <a:r>
              <a:rPr lang="en-US" dirty="0"/>
              <a:t>Example:</a:t>
            </a:r>
            <a:br>
              <a:rPr lang="en-US" dirty="0"/>
            </a:br>
            <a:r>
              <a:rPr lang="en-US" dirty="0"/>
              <a:t>Spending patterns during festivals or economic downturns change dramatically.</a:t>
            </a:r>
          </a:p>
          <a:p>
            <a:r>
              <a:rPr lang="en-US" dirty="0"/>
              <a:t>AI models must be </a:t>
            </a:r>
            <a:r>
              <a:rPr lang="en-US" b="1" dirty="0"/>
              <a:t>monitored and retrained regularly</a:t>
            </a:r>
            <a:r>
              <a:rPr lang="en-US" dirty="0"/>
              <a:t>.</a:t>
            </a:r>
          </a:p>
          <a:p>
            <a:endParaRPr lang="en-IN" dirty="0"/>
          </a:p>
        </p:txBody>
      </p:sp>
    </p:spTree>
    <p:extLst>
      <p:ext uri="{BB962C8B-B14F-4D97-AF65-F5344CB8AC3E}">
        <p14:creationId xmlns:p14="http://schemas.microsoft.com/office/powerpoint/2010/main" val="3543384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9E5A8-E791-556F-72CD-02359DAB30C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F02F0-EF27-9AF8-A0F7-F40F911464EA}"/>
              </a:ext>
            </a:extLst>
          </p:cNvPr>
          <p:cNvSpPr>
            <a:spLocks noGrp="1"/>
          </p:cNvSpPr>
          <p:nvPr>
            <p:ph idx="1"/>
          </p:nvPr>
        </p:nvSpPr>
        <p:spPr/>
        <p:txBody>
          <a:bodyPr/>
          <a:lstStyle/>
          <a:p>
            <a:r>
              <a:rPr lang="en-US" b="1" dirty="0"/>
              <a:t>AI decisions must be explainable in finance</a:t>
            </a:r>
            <a:endParaRPr lang="en-US" dirty="0"/>
          </a:p>
          <a:p>
            <a:r>
              <a:rPr lang="en-US" dirty="0"/>
              <a:t>Financial institutions must justify decisions.</a:t>
            </a:r>
          </a:p>
          <a:p>
            <a:r>
              <a:rPr lang="en-US" dirty="0"/>
              <a:t>Example:</a:t>
            </a:r>
            <a:br>
              <a:rPr lang="en-US" dirty="0"/>
            </a:br>
            <a:r>
              <a:rPr lang="en-US" dirty="0"/>
              <a:t>If a loan is rejected, the system must explain:</a:t>
            </a:r>
          </a:p>
          <a:p>
            <a:r>
              <a:rPr lang="en-US" dirty="0"/>
              <a:t>insufficient income</a:t>
            </a:r>
          </a:p>
          <a:p>
            <a:r>
              <a:rPr lang="en-US" dirty="0"/>
              <a:t>high credit utilization</a:t>
            </a:r>
          </a:p>
          <a:p>
            <a:r>
              <a:rPr lang="en-US" dirty="0"/>
              <a:t>past late payments</a:t>
            </a:r>
          </a:p>
          <a:p>
            <a:r>
              <a:rPr lang="en-US" dirty="0"/>
              <a:t>PMs must ensure the product supports </a:t>
            </a:r>
            <a:r>
              <a:rPr lang="en-US" b="1" dirty="0"/>
              <a:t>explainable AI</a:t>
            </a:r>
            <a:r>
              <a:rPr lang="en-US" dirty="0"/>
              <a:t>.</a:t>
            </a:r>
          </a:p>
          <a:p>
            <a:endParaRPr lang="en-IN" dirty="0"/>
          </a:p>
        </p:txBody>
      </p:sp>
    </p:spTree>
    <p:extLst>
      <p:ext uri="{BB962C8B-B14F-4D97-AF65-F5344CB8AC3E}">
        <p14:creationId xmlns:p14="http://schemas.microsoft.com/office/powerpoint/2010/main" val="13515746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70D10-2419-781A-EACE-0294196EE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F2C992-9F8F-DE54-955E-9B709F53CC2C}"/>
              </a:ext>
            </a:extLst>
          </p:cNvPr>
          <p:cNvSpPr>
            <a:spLocks noGrp="1"/>
          </p:cNvSpPr>
          <p:nvPr>
            <p:ph type="title"/>
          </p:nvPr>
        </p:nvSpPr>
        <p:spPr/>
        <p:txBody>
          <a:bodyPr>
            <a:normAutofit/>
          </a:bodyPr>
          <a:lstStyle/>
          <a:p>
            <a:pPr algn="ctr"/>
            <a:r>
              <a:rPr lang="en-US" sz="3600" b="1" dirty="0"/>
              <a:t>How AI Improves Understanding of Customers and Decisions</a:t>
            </a:r>
            <a:endParaRPr lang="en-IN" sz="3600" b="1" dirty="0"/>
          </a:p>
        </p:txBody>
      </p:sp>
      <p:sp>
        <p:nvSpPr>
          <p:cNvPr id="3" name="Content Placeholder 2">
            <a:extLst>
              <a:ext uri="{FF2B5EF4-FFF2-40B4-BE49-F238E27FC236}">
                <a16:creationId xmlns:a16="http://schemas.microsoft.com/office/drawing/2014/main" id="{7F941C67-FAF9-CF87-3DBD-B2F9245ED8B5}"/>
              </a:ext>
            </a:extLst>
          </p:cNvPr>
          <p:cNvSpPr>
            <a:spLocks noGrp="1"/>
          </p:cNvSpPr>
          <p:nvPr>
            <p:ph idx="1"/>
          </p:nvPr>
        </p:nvSpPr>
        <p:spPr/>
        <p:txBody>
          <a:bodyPr>
            <a:normAutofit lnSpcReduction="10000"/>
          </a:bodyPr>
          <a:lstStyle/>
          <a:p>
            <a:r>
              <a:rPr lang="en-IN" dirty="0"/>
              <a:t>AI enables financial institutions to analyze customer behavior at scale.</a:t>
            </a:r>
          </a:p>
          <a:p>
            <a:r>
              <a:rPr lang="en-IN" dirty="0"/>
              <a:t>Instead of relying on limited information, AI </a:t>
            </a:r>
            <a:r>
              <a:rPr lang="en-IN" dirty="0" err="1"/>
              <a:t>analyzes</a:t>
            </a:r>
            <a:r>
              <a:rPr lang="en-IN" dirty="0"/>
              <a:t>:</a:t>
            </a:r>
          </a:p>
          <a:p>
            <a:r>
              <a:rPr lang="en-IN" dirty="0"/>
              <a:t>transaction data</a:t>
            </a:r>
          </a:p>
          <a:p>
            <a:r>
              <a:rPr lang="en-IN" dirty="0"/>
              <a:t>spending patterns</a:t>
            </a:r>
          </a:p>
          <a:p>
            <a:r>
              <a:rPr lang="en-IN" dirty="0"/>
              <a:t>payment history</a:t>
            </a:r>
          </a:p>
          <a:p>
            <a:r>
              <a:rPr lang="en-IN" dirty="0"/>
              <a:t>digital interactions</a:t>
            </a:r>
          </a:p>
          <a:p>
            <a:r>
              <a:rPr lang="en-IN" dirty="0"/>
              <a:t>financial habits</a:t>
            </a:r>
          </a:p>
          <a:p>
            <a:r>
              <a:rPr lang="en-IN" dirty="0"/>
              <a:t>This helps organizations understand customers better and make smarter decisions.</a:t>
            </a:r>
          </a:p>
          <a:p>
            <a:endParaRPr lang="en-IN" dirty="0"/>
          </a:p>
        </p:txBody>
      </p:sp>
    </p:spTree>
    <p:extLst>
      <p:ext uri="{BB962C8B-B14F-4D97-AF65-F5344CB8AC3E}">
        <p14:creationId xmlns:p14="http://schemas.microsoft.com/office/powerpoint/2010/main" val="2352750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C8FA9-4922-0188-C5F0-2FE3409E1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697CC-9959-BE0B-5D1C-69C9105DA8FB}"/>
              </a:ext>
            </a:extLst>
          </p:cNvPr>
          <p:cNvSpPr>
            <a:spLocks noGrp="1"/>
          </p:cNvSpPr>
          <p:nvPr>
            <p:ph type="title"/>
          </p:nvPr>
        </p:nvSpPr>
        <p:spPr/>
        <p:txBody>
          <a:bodyPr/>
          <a:lstStyle/>
          <a:p>
            <a:r>
              <a:rPr lang="en-US" b="1" dirty="0"/>
              <a:t>Example 1: Customer Behavior Analysis</a:t>
            </a:r>
            <a:br>
              <a:rPr lang="en-US" b="1" dirty="0"/>
            </a:br>
            <a:endParaRPr lang="en-IN" dirty="0"/>
          </a:p>
        </p:txBody>
      </p:sp>
      <p:sp>
        <p:nvSpPr>
          <p:cNvPr id="3" name="Content Placeholder 2">
            <a:extLst>
              <a:ext uri="{FF2B5EF4-FFF2-40B4-BE49-F238E27FC236}">
                <a16:creationId xmlns:a16="http://schemas.microsoft.com/office/drawing/2014/main" id="{66EB6B57-5A19-17B9-6D5D-2A5CC928F589}"/>
              </a:ext>
            </a:extLst>
          </p:cNvPr>
          <p:cNvSpPr>
            <a:spLocks noGrp="1"/>
          </p:cNvSpPr>
          <p:nvPr>
            <p:ph idx="1"/>
          </p:nvPr>
        </p:nvSpPr>
        <p:spPr/>
        <p:txBody>
          <a:bodyPr>
            <a:normAutofit/>
          </a:bodyPr>
          <a:lstStyle/>
          <a:p>
            <a:r>
              <a:rPr lang="en-US" dirty="0"/>
              <a:t>AI can analyze:</a:t>
            </a:r>
          </a:p>
          <a:p>
            <a:r>
              <a:rPr lang="en-US" dirty="0"/>
              <a:t>where customers spend</a:t>
            </a:r>
          </a:p>
          <a:p>
            <a:r>
              <a:rPr lang="en-US" dirty="0"/>
              <a:t>how frequently they transact</a:t>
            </a:r>
          </a:p>
          <a:p>
            <a:r>
              <a:rPr lang="en-US" dirty="0"/>
              <a:t>when they typically pay bills</a:t>
            </a:r>
          </a:p>
          <a:p>
            <a:r>
              <a:rPr lang="en-US" dirty="0"/>
              <a:t>Insights may include:</a:t>
            </a:r>
          </a:p>
          <a:p>
            <a:r>
              <a:rPr lang="en-US" dirty="0"/>
              <a:t>high-value customers</a:t>
            </a:r>
          </a:p>
          <a:p>
            <a:r>
              <a:rPr lang="en-US" dirty="0"/>
              <a:t>customers likely to churn</a:t>
            </a:r>
          </a:p>
          <a:p>
            <a:r>
              <a:rPr lang="en-US" dirty="0"/>
              <a:t>customers likely to upgrade products</a:t>
            </a:r>
          </a:p>
          <a:p>
            <a:endParaRPr lang="en-IN" dirty="0"/>
          </a:p>
        </p:txBody>
      </p:sp>
    </p:spTree>
    <p:extLst>
      <p:ext uri="{BB962C8B-B14F-4D97-AF65-F5344CB8AC3E}">
        <p14:creationId xmlns:p14="http://schemas.microsoft.com/office/powerpoint/2010/main" val="14132770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355EB-4BB1-FDD2-F3C5-A8DFF8FC0C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8C505D-9E06-4AB3-D445-B96FB186A912}"/>
              </a:ext>
            </a:extLst>
          </p:cNvPr>
          <p:cNvSpPr>
            <a:spLocks noGrp="1"/>
          </p:cNvSpPr>
          <p:nvPr>
            <p:ph idx="1"/>
          </p:nvPr>
        </p:nvSpPr>
        <p:spPr/>
        <p:txBody>
          <a:bodyPr>
            <a:normAutofit lnSpcReduction="10000"/>
          </a:bodyPr>
          <a:lstStyle/>
          <a:p>
            <a:r>
              <a:rPr lang="en-US" dirty="0"/>
              <a:t>Example:</a:t>
            </a:r>
          </a:p>
          <a:p>
            <a:r>
              <a:rPr lang="en-US" dirty="0"/>
              <a:t>A bank identifies that a customer:</a:t>
            </a:r>
          </a:p>
          <a:p>
            <a:r>
              <a:rPr lang="en-US" dirty="0"/>
              <a:t>frequently books flights</a:t>
            </a:r>
          </a:p>
          <a:p>
            <a:r>
              <a:rPr lang="en-US" dirty="0"/>
              <a:t>spends on hotels</a:t>
            </a:r>
          </a:p>
          <a:p>
            <a:r>
              <a:rPr lang="en-US" dirty="0"/>
              <a:t>travels internationally</a:t>
            </a:r>
          </a:p>
          <a:p>
            <a:r>
              <a:rPr lang="en-US" dirty="0"/>
              <a:t>AI may suggest:</a:t>
            </a:r>
          </a:p>
          <a:p>
            <a:r>
              <a:rPr lang="en-US" dirty="0"/>
              <a:t>premium travel credit cards</a:t>
            </a:r>
          </a:p>
          <a:p>
            <a:r>
              <a:rPr lang="en-US" dirty="0"/>
              <a:t>forex cards</a:t>
            </a:r>
          </a:p>
          <a:p>
            <a:r>
              <a:rPr lang="en-US" dirty="0"/>
              <a:t>travel insurance</a:t>
            </a:r>
          </a:p>
          <a:p>
            <a:endParaRPr lang="en-IN" dirty="0"/>
          </a:p>
        </p:txBody>
      </p:sp>
    </p:spTree>
    <p:extLst>
      <p:ext uri="{BB962C8B-B14F-4D97-AF65-F5344CB8AC3E}">
        <p14:creationId xmlns:p14="http://schemas.microsoft.com/office/powerpoint/2010/main" val="42450301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2AAB6-5731-3177-7918-307AFF3343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3729B-A1E8-F71F-6DE2-579F694BF613}"/>
              </a:ext>
            </a:extLst>
          </p:cNvPr>
          <p:cNvSpPr>
            <a:spLocks noGrp="1"/>
          </p:cNvSpPr>
          <p:nvPr>
            <p:ph type="title"/>
          </p:nvPr>
        </p:nvSpPr>
        <p:spPr/>
        <p:txBody>
          <a:bodyPr/>
          <a:lstStyle/>
          <a:p>
            <a:pPr algn="ctr"/>
            <a:r>
              <a:rPr lang="en-US" b="1" dirty="0"/>
              <a:t>Example 2: Risk Understanding</a:t>
            </a:r>
            <a:br>
              <a:rPr lang="en-US" b="1" dirty="0"/>
            </a:br>
            <a:endParaRPr lang="en-IN" dirty="0"/>
          </a:p>
        </p:txBody>
      </p:sp>
      <p:sp>
        <p:nvSpPr>
          <p:cNvPr id="3" name="Content Placeholder 2">
            <a:extLst>
              <a:ext uri="{FF2B5EF4-FFF2-40B4-BE49-F238E27FC236}">
                <a16:creationId xmlns:a16="http://schemas.microsoft.com/office/drawing/2014/main" id="{B4E5EB95-C746-99C8-25AB-9E1AABD9C9C7}"/>
              </a:ext>
            </a:extLst>
          </p:cNvPr>
          <p:cNvSpPr>
            <a:spLocks noGrp="1"/>
          </p:cNvSpPr>
          <p:nvPr>
            <p:ph idx="1"/>
          </p:nvPr>
        </p:nvSpPr>
        <p:spPr/>
        <p:txBody>
          <a:bodyPr/>
          <a:lstStyle/>
          <a:p>
            <a:r>
              <a:rPr lang="en-US" dirty="0"/>
              <a:t>AI helps identify risk signals earlier.</a:t>
            </a:r>
          </a:p>
          <a:p>
            <a:r>
              <a:rPr lang="en-US" dirty="0"/>
              <a:t>Example:</a:t>
            </a:r>
          </a:p>
          <a:p>
            <a:r>
              <a:rPr lang="en-US" dirty="0"/>
              <a:t>A lending platform may notice:</a:t>
            </a:r>
          </a:p>
          <a:p>
            <a:r>
              <a:rPr lang="en-US" dirty="0"/>
              <a:t>declining account balance</a:t>
            </a:r>
          </a:p>
          <a:p>
            <a:r>
              <a:rPr lang="en-US" dirty="0"/>
              <a:t>increasing credit card usage</a:t>
            </a:r>
          </a:p>
          <a:p>
            <a:r>
              <a:rPr lang="en-US" dirty="0"/>
              <a:t>missed payments</a:t>
            </a:r>
          </a:p>
          <a:p>
            <a:r>
              <a:rPr lang="en-US" dirty="0"/>
              <a:t>AI predicts that this customer may default in the next 3 months.</a:t>
            </a:r>
          </a:p>
          <a:p>
            <a:endParaRPr lang="en-IN" dirty="0"/>
          </a:p>
        </p:txBody>
      </p:sp>
    </p:spTree>
    <p:extLst>
      <p:ext uri="{BB962C8B-B14F-4D97-AF65-F5344CB8AC3E}">
        <p14:creationId xmlns:p14="http://schemas.microsoft.com/office/powerpoint/2010/main" val="29159474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50557-F4BD-FFFA-6A64-0312200479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C2FCDF-D8CD-4C14-E069-D0432143A5A2}"/>
              </a:ext>
            </a:extLst>
          </p:cNvPr>
          <p:cNvSpPr>
            <a:spLocks noGrp="1"/>
          </p:cNvSpPr>
          <p:nvPr>
            <p:ph idx="1"/>
          </p:nvPr>
        </p:nvSpPr>
        <p:spPr/>
        <p:txBody>
          <a:bodyPr/>
          <a:lstStyle/>
          <a:p>
            <a:r>
              <a:rPr lang="en-US" dirty="0"/>
              <a:t>The bank can:</a:t>
            </a:r>
          </a:p>
          <a:p>
            <a:r>
              <a:rPr lang="en-US" dirty="0"/>
              <a:t>reduce credit exposure</a:t>
            </a:r>
          </a:p>
          <a:p>
            <a:r>
              <a:rPr lang="en-US" dirty="0"/>
              <a:t>offer restructuring</a:t>
            </a:r>
          </a:p>
          <a:p>
            <a:r>
              <a:rPr lang="en-US" dirty="0"/>
              <a:t>notify risk teams</a:t>
            </a:r>
          </a:p>
          <a:p>
            <a:endParaRPr lang="en-IN" dirty="0"/>
          </a:p>
        </p:txBody>
      </p:sp>
    </p:spTree>
    <p:extLst>
      <p:ext uri="{BB962C8B-B14F-4D97-AF65-F5344CB8AC3E}">
        <p14:creationId xmlns:p14="http://schemas.microsoft.com/office/powerpoint/2010/main" val="3043917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EE0CD-4BAB-FECF-E064-523453A54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711EF-C62D-D426-0919-3428F47D2E19}"/>
              </a:ext>
            </a:extLst>
          </p:cNvPr>
          <p:cNvSpPr>
            <a:spLocks noGrp="1"/>
          </p:cNvSpPr>
          <p:nvPr>
            <p:ph type="title"/>
          </p:nvPr>
        </p:nvSpPr>
        <p:spPr/>
        <p:txBody>
          <a:bodyPr/>
          <a:lstStyle/>
          <a:p>
            <a:pPr algn="ctr"/>
            <a:r>
              <a:rPr lang="en-US" b="1" dirty="0"/>
              <a:t>Example 3: Operational Decision Support</a:t>
            </a:r>
            <a:br>
              <a:rPr lang="en-US" b="1" dirty="0"/>
            </a:br>
            <a:endParaRPr lang="en-IN" dirty="0"/>
          </a:p>
        </p:txBody>
      </p:sp>
      <p:sp>
        <p:nvSpPr>
          <p:cNvPr id="3" name="Content Placeholder 2">
            <a:extLst>
              <a:ext uri="{FF2B5EF4-FFF2-40B4-BE49-F238E27FC236}">
                <a16:creationId xmlns:a16="http://schemas.microsoft.com/office/drawing/2014/main" id="{5B58A9B2-A971-AC53-FDB7-B812CB2F2B27}"/>
              </a:ext>
            </a:extLst>
          </p:cNvPr>
          <p:cNvSpPr>
            <a:spLocks noGrp="1"/>
          </p:cNvSpPr>
          <p:nvPr>
            <p:ph idx="1"/>
          </p:nvPr>
        </p:nvSpPr>
        <p:spPr/>
        <p:txBody>
          <a:bodyPr>
            <a:normAutofit fontScale="92500" lnSpcReduction="20000"/>
          </a:bodyPr>
          <a:lstStyle/>
          <a:p>
            <a:r>
              <a:rPr lang="en-US" dirty="0"/>
              <a:t>AI supports internal decision-making.</a:t>
            </a:r>
          </a:p>
          <a:p>
            <a:r>
              <a:rPr lang="en-US" dirty="0"/>
              <a:t>Example:</a:t>
            </a:r>
          </a:p>
          <a:p>
            <a:r>
              <a:rPr lang="en-US" dirty="0"/>
              <a:t>Finance operations may use AI to:</a:t>
            </a:r>
          </a:p>
          <a:p>
            <a:r>
              <a:rPr lang="en-US" dirty="0"/>
              <a:t>prioritize invoices</a:t>
            </a:r>
          </a:p>
          <a:p>
            <a:r>
              <a:rPr lang="en-US" dirty="0"/>
              <a:t>detect duplicate payments</a:t>
            </a:r>
          </a:p>
          <a:p>
            <a:r>
              <a:rPr lang="en-US" dirty="0"/>
              <a:t>identify suspicious vendor activity</a:t>
            </a:r>
          </a:p>
          <a:p>
            <a:r>
              <a:rPr lang="en-US" dirty="0"/>
              <a:t>This improves:</a:t>
            </a:r>
          </a:p>
          <a:p>
            <a:r>
              <a:rPr lang="en-US" dirty="0"/>
              <a:t>efficiency</a:t>
            </a:r>
          </a:p>
          <a:p>
            <a:r>
              <a:rPr lang="en-US" dirty="0"/>
              <a:t>cost control</a:t>
            </a:r>
          </a:p>
          <a:p>
            <a:r>
              <a:rPr lang="en-US" dirty="0"/>
              <a:t>operational accuracy</a:t>
            </a:r>
          </a:p>
          <a:p>
            <a:endParaRPr lang="en-IN" dirty="0"/>
          </a:p>
        </p:txBody>
      </p:sp>
    </p:spTree>
    <p:extLst>
      <p:ext uri="{BB962C8B-B14F-4D97-AF65-F5344CB8AC3E}">
        <p14:creationId xmlns:p14="http://schemas.microsoft.com/office/powerpoint/2010/main" val="831231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57F7E-8FD1-87D7-820A-A6AA5A4F3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34967-0202-ABC4-5D63-CC69D27D9B46}"/>
              </a:ext>
            </a:extLst>
          </p:cNvPr>
          <p:cNvSpPr>
            <a:spLocks noGrp="1"/>
          </p:cNvSpPr>
          <p:nvPr>
            <p:ph type="title"/>
          </p:nvPr>
        </p:nvSpPr>
        <p:spPr/>
        <p:txBody>
          <a:bodyPr/>
          <a:lstStyle/>
          <a:p>
            <a:pPr algn="ctr"/>
            <a:r>
              <a:rPr lang="en-US" b="1" dirty="0"/>
              <a:t>Evaluating Which Financial Problems </a:t>
            </a:r>
            <a:br>
              <a:rPr lang="en-US" b="1" dirty="0"/>
            </a:br>
            <a:r>
              <a:rPr lang="en-US" b="1" dirty="0"/>
              <a:t>Require AI</a:t>
            </a:r>
            <a:endParaRPr lang="en-IN" b="1" dirty="0"/>
          </a:p>
        </p:txBody>
      </p:sp>
      <p:sp>
        <p:nvSpPr>
          <p:cNvPr id="3" name="Content Placeholder 2">
            <a:extLst>
              <a:ext uri="{FF2B5EF4-FFF2-40B4-BE49-F238E27FC236}">
                <a16:creationId xmlns:a16="http://schemas.microsoft.com/office/drawing/2014/main" id="{53A9E2BE-1CBC-2CA3-C6A7-DFA4FC8A258C}"/>
              </a:ext>
            </a:extLst>
          </p:cNvPr>
          <p:cNvSpPr>
            <a:spLocks noGrp="1"/>
          </p:cNvSpPr>
          <p:nvPr>
            <p:ph idx="1"/>
          </p:nvPr>
        </p:nvSpPr>
        <p:spPr/>
        <p:txBody>
          <a:bodyPr/>
          <a:lstStyle/>
          <a:p>
            <a:r>
              <a:rPr lang="en-US" dirty="0"/>
              <a:t>One of the most important responsibilities of an AI Product Manager is deciding when AI is actually needed.</a:t>
            </a:r>
          </a:p>
          <a:p>
            <a:r>
              <a:rPr lang="en-US" dirty="0"/>
              <a:t>Not every financial problem requires AI.</a:t>
            </a:r>
          </a:p>
          <a:p>
            <a:r>
              <a:rPr lang="en-US" dirty="0"/>
              <a:t>Sometimes simple rules are better.</a:t>
            </a:r>
          </a:p>
          <a:p>
            <a:endParaRPr lang="en-IN" dirty="0"/>
          </a:p>
        </p:txBody>
      </p:sp>
    </p:spTree>
    <p:extLst>
      <p:ext uri="{BB962C8B-B14F-4D97-AF65-F5344CB8AC3E}">
        <p14:creationId xmlns:p14="http://schemas.microsoft.com/office/powerpoint/2010/main" val="18179866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8E9A3-1F8C-F777-2901-CBDDDDF37D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A1F3D7-081F-710C-21DB-1399030313CF}"/>
              </a:ext>
            </a:extLst>
          </p:cNvPr>
          <p:cNvSpPr>
            <a:spLocks noGrp="1"/>
          </p:cNvSpPr>
          <p:nvPr>
            <p:ph type="title"/>
          </p:nvPr>
        </p:nvSpPr>
        <p:spPr/>
        <p:txBody>
          <a:bodyPr/>
          <a:lstStyle/>
          <a:p>
            <a:r>
              <a:rPr lang="en-US" b="1" dirty="0"/>
              <a:t>Step 1: Check If the Problem Involves Patterns</a:t>
            </a:r>
            <a:br>
              <a:rPr lang="en-US" b="1" dirty="0"/>
            </a:br>
            <a:endParaRPr lang="en-IN" dirty="0"/>
          </a:p>
        </p:txBody>
      </p:sp>
      <p:sp>
        <p:nvSpPr>
          <p:cNvPr id="3" name="Content Placeholder 2">
            <a:extLst>
              <a:ext uri="{FF2B5EF4-FFF2-40B4-BE49-F238E27FC236}">
                <a16:creationId xmlns:a16="http://schemas.microsoft.com/office/drawing/2014/main" id="{33BAFD97-2113-5937-0532-FA2B080DC84C}"/>
              </a:ext>
            </a:extLst>
          </p:cNvPr>
          <p:cNvSpPr>
            <a:spLocks noGrp="1"/>
          </p:cNvSpPr>
          <p:nvPr>
            <p:ph idx="1"/>
          </p:nvPr>
        </p:nvSpPr>
        <p:spPr/>
        <p:txBody>
          <a:bodyPr/>
          <a:lstStyle/>
          <a:p>
            <a:r>
              <a:rPr lang="en-US" dirty="0"/>
              <a:t>AI is useful when there are </a:t>
            </a:r>
            <a:r>
              <a:rPr lang="en-US" b="1" dirty="0"/>
              <a:t>complex patterns in data</a:t>
            </a:r>
            <a:r>
              <a:rPr lang="en-US" dirty="0"/>
              <a:t>.</a:t>
            </a:r>
          </a:p>
          <a:p>
            <a:r>
              <a:rPr lang="en-US" dirty="0"/>
              <a:t>Examples:</a:t>
            </a:r>
          </a:p>
          <a:p>
            <a:r>
              <a:rPr lang="en-US" dirty="0"/>
              <a:t>Good AI use cases:</a:t>
            </a:r>
          </a:p>
          <a:p>
            <a:r>
              <a:rPr lang="en-US" dirty="0"/>
              <a:t>fraud detection</a:t>
            </a:r>
          </a:p>
          <a:p>
            <a:r>
              <a:rPr lang="en-US" dirty="0"/>
              <a:t>credit risk prediction</a:t>
            </a:r>
          </a:p>
          <a:p>
            <a:r>
              <a:rPr lang="en-US" dirty="0"/>
              <a:t>transaction anomaly detection</a:t>
            </a:r>
          </a:p>
          <a:p>
            <a:r>
              <a:rPr lang="en-US" dirty="0"/>
              <a:t>customer segmentation</a:t>
            </a:r>
          </a:p>
          <a:p>
            <a:endParaRPr lang="en-IN" dirty="0"/>
          </a:p>
        </p:txBody>
      </p:sp>
    </p:spTree>
    <p:extLst>
      <p:ext uri="{BB962C8B-B14F-4D97-AF65-F5344CB8AC3E}">
        <p14:creationId xmlns:p14="http://schemas.microsoft.com/office/powerpoint/2010/main" val="8663607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ACAB8-9B29-214D-77C4-CBF5FD91A1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50CAD2-5C04-6B6B-0707-8367150C3EEA}"/>
              </a:ext>
            </a:extLst>
          </p:cNvPr>
          <p:cNvSpPr>
            <a:spLocks noGrp="1"/>
          </p:cNvSpPr>
          <p:nvPr>
            <p:ph idx="1"/>
          </p:nvPr>
        </p:nvSpPr>
        <p:spPr/>
        <p:txBody>
          <a:bodyPr/>
          <a:lstStyle/>
          <a:p>
            <a:r>
              <a:rPr lang="en-US" dirty="0"/>
              <a:t>Poor AI use cases:</a:t>
            </a:r>
          </a:p>
          <a:p>
            <a:r>
              <a:rPr lang="en-US" dirty="0"/>
              <a:t>applying fixed tax rules</a:t>
            </a:r>
          </a:p>
          <a:p>
            <a:r>
              <a:rPr lang="en-US" dirty="0"/>
              <a:t>validating invoice format</a:t>
            </a:r>
          </a:p>
          <a:p>
            <a:r>
              <a:rPr lang="en-US" dirty="0"/>
              <a:t>applying regulatory limits</a:t>
            </a:r>
          </a:p>
          <a:p>
            <a:r>
              <a:rPr lang="en-US" dirty="0"/>
              <a:t>These tasks work better with </a:t>
            </a:r>
            <a:r>
              <a:rPr lang="en-US" b="1" dirty="0"/>
              <a:t>simple rules</a:t>
            </a:r>
            <a:r>
              <a:rPr lang="en-US" dirty="0"/>
              <a:t>.</a:t>
            </a:r>
          </a:p>
          <a:p>
            <a:endParaRPr lang="en-IN" dirty="0"/>
          </a:p>
        </p:txBody>
      </p:sp>
    </p:spTree>
    <p:extLst>
      <p:ext uri="{BB962C8B-B14F-4D97-AF65-F5344CB8AC3E}">
        <p14:creationId xmlns:p14="http://schemas.microsoft.com/office/powerpoint/2010/main" val="6264095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8A78B-8749-991A-C244-DA51160BD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43B7B-DB02-426E-43D5-7F79962F3EB4}"/>
              </a:ext>
            </a:extLst>
          </p:cNvPr>
          <p:cNvSpPr>
            <a:spLocks noGrp="1"/>
          </p:cNvSpPr>
          <p:nvPr>
            <p:ph type="title"/>
          </p:nvPr>
        </p:nvSpPr>
        <p:spPr/>
        <p:txBody>
          <a:bodyPr/>
          <a:lstStyle/>
          <a:p>
            <a:r>
              <a:rPr lang="en-US" b="1" dirty="0"/>
              <a:t>Step 2: Check If Historical Data Exists</a:t>
            </a:r>
            <a:br>
              <a:rPr lang="en-US" b="1" dirty="0"/>
            </a:br>
            <a:endParaRPr lang="en-IN" dirty="0"/>
          </a:p>
        </p:txBody>
      </p:sp>
      <p:sp>
        <p:nvSpPr>
          <p:cNvPr id="3" name="Content Placeholder 2">
            <a:extLst>
              <a:ext uri="{FF2B5EF4-FFF2-40B4-BE49-F238E27FC236}">
                <a16:creationId xmlns:a16="http://schemas.microsoft.com/office/drawing/2014/main" id="{9215BCEE-8A35-6945-C939-3DE3E6DEDC6F}"/>
              </a:ext>
            </a:extLst>
          </p:cNvPr>
          <p:cNvSpPr>
            <a:spLocks noGrp="1"/>
          </p:cNvSpPr>
          <p:nvPr>
            <p:ph idx="1"/>
          </p:nvPr>
        </p:nvSpPr>
        <p:spPr/>
        <p:txBody>
          <a:bodyPr/>
          <a:lstStyle/>
          <a:p>
            <a:r>
              <a:rPr lang="en-US" dirty="0"/>
              <a:t>AI learns from past data.</a:t>
            </a:r>
          </a:p>
          <a:p>
            <a:r>
              <a:rPr lang="en-US" dirty="0"/>
              <a:t>If there is no historical data, AI cannot learn patterns.</a:t>
            </a:r>
          </a:p>
          <a:p>
            <a:r>
              <a:rPr lang="en-US" dirty="0"/>
              <a:t>Example:</a:t>
            </a:r>
          </a:p>
          <a:p>
            <a:r>
              <a:rPr lang="en-US" dirty="0"/>
              <a:t>AI can predict loan default because banks have decades of repayment data.</a:t>
            </a:r>
          </a:p>
          <a:p>
            <a:r>
              <a:rPr lang="en-US" dirty="0"/>
              <a:t>But AI cannot predict something with no historical data available.</a:t>
            </a:r>
          </a:p>
          <a:p>
            <a:endParaRPr lang="en-IN" dirty="0"/>
          </a:p>
        </p:txBody>
      </p:sp>
    </p:spTree>
    <p:extLst>
      <p:ext uri="{BB962C8B-B14F-4D97-AF65-F5344CB8AC3E}">
        <p14:creationId xmlns:p14="http://schemas.microsoft.com/office/powerpoint/2010/main" val="3792129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5BA75-41C2-F871-7A47-72C45CBAF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2232F-0C83-450D-EA73-3A250DE3F1C5}"/>
              </a:ext>
            </a:extLst>
          </p:cNvPr>
          <p:cNvSpPr>
            <a:spLocks noGrp="1"/>
          </p:cNvSpPr>
          <p:nvPr>
            <p:ph type="title"/>
          </p:nvPr>
        </p:nvSpPr>
        <p:spPr/>
        <p:txBody>
          <a:bodyPr>
            <a:normAutofit fontScale="90000"/>
          </a:bodyPr>
          <a:lstStyle/>
          <a:p>
            <a:pPr algn="ctr"/>
            <a:r>
              <a:rPr lang="en-US" b="1" dirty="0"/>
              <a:t>Step 3: Check If the Problem Requires Prediction</a:t>
            </a:r>
            <a:br>
              <a:rPr lang="en-US" b="1" dirty="0"/>
            </a:br>
            <a:endParaRPr lang="en-IN" dirty="0"/>
          </a:p>
        </p:txBody>
      </p:sp>
      <p:sp>
        <p:nvSpPr>
          <p:cNvPr id="3" name="Content Placeholder 2">
            <a:extLst>
              <a:ext uri="{FF2B5EF4-FFF2-40B4-BE49-F238E27FC236}">
                <a16:creationId xmlns:a16="http://schemas.microsoft.com/office/drawing/2014/main" id="{956DAD95-AEA9-DF60-E574-927252AF9600}"/>
              </a:ext>
            </a:extLst>
          </p:cNvPr>
          <p:cNvSpPr>
            <a:spLocks noGrp="1"/>
          </p:cNvSpPr>
          <p:nvPr>
            <p:ph idx="1"/>
          </p:nvPr>
        </p:nvSpPr>
        <p:spPr/>
        <p:txBody>
          <a:bodyPr/>
          <a:lstStyle/>
          <a:p>
            <a:r>
              <a:rPr lang="en-US" dirty="0"/>
              <a:t>AI works well when the goal is to predict something.</a:t>
            </a:r>
          </a:p>
          <a:p>
            <a:r>
              <a:rPr lang="en-US" dirty="0"/>
              <a:t>Examples:</a:t>
            </a:r>
          </a:p>
          <a:p>
            <a:r>
              <a:rPr lang="en-US" dirty="0"/>
              <a:t>Which customer may default?</a:t>
            </a:r>
          </a:p>
          <a:p>
            <a:r>
              <a:rPr lang="en-US" dirty="0"/>
              <a:t>Which transaction may be fraud?</a:t>
            </a:r>
          </a:p>
          <a:p>
            <a:r>
              <a:rPr lang="en-US" dirty="0"/>
              <a:t>Which customers may respond to an offer?</a:t>
            </a:r>
          </a:p>
          <a:p>
            <a:r>
              <a:rPr lang="en-US" dirty="0"/>
              <a:t>Prediction-based problems are ideal for AI.</a:t>
            </a:r>
          </a:p>
          <a:p>
            <a:endParaRPr lang="en-IN" dirty="0"/>
          </a:p>
        </p:txBody>
      </p:sp>
    </p:spTree>
    <p:extLst>
      <p:ext uri="{BB962C8B-B14F-4D97-AF65-F5344CB8AC3E}">
        <p14:creationId xmlns:p14="http://schemas.microsoft.com/office/powerpoint/2010/main" val="11312257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43777-CFE0-63EE-4B81-5788A937D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C893C-A8A7-29C2-DC15-A26D338679E0}"/>
              </a:ext>
            </a:extLst>
          </p:cNvPr>
          <p:cNvSpPr>
            <a:spLocks noGrp="1"/>
          </p:cNvSpPr>
          <p:nvPr>
            <p:ph type="title"/>
          </p:nvPr>
        </p:nvSpPr>
        <p:spPr/>
        <p:txBody>
          <a:bodyPr>
            <a:normAutofit fontScale="90000"/>
          </a:bodyPr>
          <a:lstStyle/>
          <a:p>
            <a:r>
              <a:rPr lang="en-US" b="1" dirty="0"/>
              <a:t>Step 4: Check If the Problem Involves Large Data</a:t>
            </a:r>
            <a:br>
              <a:rPr lang="en-US" b="1" dirty="0"/>
            </a:br>
            <a:endParaRPr lang="en-IN" dirty="0"/>
          </a:p>
        </p:txBody>
      </p:sp>
      <p:sp>
        <p:nvSpPr>
          <p:cNvPr id="3" name="Content Placeholder 2">
            <a:extLst>
              <a:ext uri="{FF2B5EF4-FFF2-40B4-BE49-F238E27FC236}">
                <a16:creationId xmlns:a16="http://schemas.microsoft.com/office/drawing/2014/main" id="{9F85ADBC-6898-7564-4B0E-70674435BA4D}"/>
              </a:ext>
            </a:extLst>
          </p:cNvPr>
          <p:cNvSpPr>
            <a:spLocks noGrp="1"/>
          </p:cNvSpPr>
          <p:nvPr>
            <p:ph idx="1"/>
          </p:nvPr>
        </p:nvSpPr>
        <p:spPr/>
        <p:txBody>
          <a:bodyPr/>
          <a:lstStyle/>
          <a:p>
            <a:pPr>
              <a:lnSpc>
                <a:spcPct val="150000"/>
              </a:lnSpc>
            </a:pPr>
            <a:r>
              <a:rPr lang="en-US" dirty="0"/>
              <a:t>AI is useful when there are </a:t>
            </a:r>
            <a:r>
              <a:rPr lang="en-US" b="1" dirty="0"/>
              <a:t>large volumes of data</a:t>
            </a:r>
            <a:r>
              <a:rPr lang="en-US" dirty="0"/>
              <a:t>.</a:t>
            </a:r>
          </a:p>
          <a:p>
            <a:pPr>
              <a:lnSpc>
                <a:spcPct val="150000"/>
              </a:lnSpc>
            </a:pPr>
            <a:r>
              <a:rPr lang="en-US" dirty="0"/>
              <a:t>Example:</a:t>
            </a:r>
          </a:p>
          <a:p>
            <a:pPr>
              <a:lnSpc>
                <a:spcPct val="150000"/>
              </a:lnSpc>
            </a:pPr>
            <a:r>
              <a:rPr lang="en-US" dirty="0"/>
              <a:t>A bank processes </a:t>
            </a:r>
            <a:r>
              <a:rPr lang="en-US" b="1" dirty="0"/>
              <a:t>millions of transactions daily</a:t>
            </a:r>
            <a:r>
              <a:rPr lang="en-US" dirty="0"/>
              <a:t>.</a:t>
            </a:r>
          </a:p>
          <a:p>
            <a:pPr>
              <a:lnSpc>
                <a:spcPct val="150000"/>
              </a:lnSpc>
            </a:pPr>
            <a:r>
              <a:rPr lang="en-US" dirty="0"/>
              <a:t>Manual analysis is impossible.</a:t>
            </a:r>
          </a:p>
          <a:p>
            <a:pPr>
              <a:lnSpc>
                <a:spcPct val="150000"/>
              </a:lnSpc>
            </a:pPr>
            <a:r>
              <a:rPr lang="en-US" dirty="0"/>
              <a:t>AI can analyze patterns instantly.</a:t>
            </a:r>
          </a:p>
          <a:p>
            <a:pPr>
              <a:lnSpc>
                <a:spcPct val="150000"/>
              </a:lnSpc>
            </a:pPr>
            <a:endParaRPr lang="en-IN" dirty="0"/>
          </a:p>
        </p:txBody>
      </p:sp>
    </p:spTree>
    <p:extLst>
      <p:ext uri="{BB962C8B-B14F-4D97-AF65-F5344CB8AC3E}">
        <p14:creationId xmlns:p14="http://schemas.microsoft.com/office/powerpoint/2010/main" val="12650069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4AF1D-A9A3-E517-5D37-EFB3137DD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BE1A0-B75D-EF2A-EC7E-CA2E9DAAEA72}"/>
              </a:ext>
            </a:extLst>
          </p:cNvPr>
          <p:cNvSpPr>
            <a:spLocks noGrp="1"/>
          </p:cNvSpPr>
          <p:nvPr>
            <p:ph type="title"/>
          </p:nvPr>
        </p:nvSpPr>
        <p:spPr/>
        <p:txBody>
          <a:bodyPr>
            <a:normAutofit fontScale="90000"/>
          </a:bodyPr>
          <a:lstStyle/>
          <a:p>
            <a:pPr algn="ctr"/>
            <a:br>
              <a:rPr lang="en-US" b="1" dirty="0"/>
            </a:br>
            <a:r>
              <a:rPr lang="en-US" b="1" dirty="0"/>
              <a:t>Simple Decision Framework for PMs</a:t>
            </a:r>
            <a:br>
              <a:rPr lang="en-US" b="1" dirty="0"/>
            </a:br>
            <a:endParaRPr lang="en-IN" dirty="0"/>
          </a:p>
        </p:txBody>
      </p:sp>
      <p:sp>
        <p:nvSpPr>
          <p:cNvPr id="3" name="Content Placeholder 2">
            <a:extLst>
              <a:ext uri="{FF2B5EF4-FFF2-40B4-BE49-F238E27FC236}">
                <a16:creationId xmlns:a16="http://schemas.microsoft.com/office/drawing/2014/main" id="{DDCA67F6-15D1-D68F-7E77-94F21C1BAC2D}"/>
              </a:ext>
            </a:extLst>
          </p:cNvPr>
          <p:cNvSpPr>
            <a:spLocks noGrp="1"/>
          </p:cNvSpPr>
          <p:nvPr>
            <p:ph idx="1"/>
          </p:nvPr>
        </p:nvSpPr>
        <p:spPr/>
        <p:txBody>
          <a:bodyPr/>
          <a:lstStyle/>
          <a:p>
            <a:r>
              <a:rPr lang="en-US" dirty="0"/>
              <a:t>Before choosing AI, a Product Manager should ask:</a:t>
            </a:r>
          </a:p>
          <a:p>
            <a:r>
              <a:rPr lang="en-US" dirty="0"/>
              <a:t>Is the problem pattern-based?</a:t>
            </a:r>
          </a:p>
          <a:p>
            <a:r>
              <a:rPr lang="en-US" dirty="0"/>
              <a:t>Do we have enough historical data?</a:t>
            </a:r>
          </a:p>
          <a:p>
            <a:r>
              <a:rPr lang="en-US" dirty="0"/>
              <a:t>Does the problem require prediction?</a:t>
            </a:r>
          </a:p>
          <a:p>
            <a:r>
              <a:rPr lang="en-US" dirty="0"/>
              <a:t>Is the data volume large?</a:t>
            </a:r>
          </a:p>
          <a:p>
            <a:r>
              <a:rPr lang="en-US" dirty="0"/>
              <a:t>If the answer is </a:t>
            </a:r>
            <a:r>
              <a:rPr lang="en-US" b="1" dirty="0"/>
              <a:t>yes to most of these</a:t>
            </a:r>
            <a:r>
              <a:rPr lang="en-US" dirty="0"/>
              <a:t>, AI is likely useful.</a:t>
            </a:r>
          </a:p>
          <a:p>
            <a:endParaRPr lang="en-IN" dirty="0"/>
          </a:p>
        </p:txBody>
      </p:sp>
    </p:spTree>
    <p:extLst>
      <p:ext uri="{BB962C8B-B14F-4D97-AF65-F5344CB8AC3E}">
        <p14:creationId xmlns:p14="http://schemas.microsoft.com/office/powerpoint/2010/main" val="844387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3F58-CE08-B5EA-CD58-C7018BB509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7FA942-3B0A-609A-5B7A-C8B0362CCA71}"/>
              </a:ext>
            </a:extLst>
          </p:cNvPr>
          <p:cNvSpPr>
            <a:spLocks noGrp="1"/>
          </p:cNvSpPr>
          <p:nvPr>
            <p:ph idx="1"/>
          </p:nvPr>
        </p:nvSpPr>
        <p:spPr/>
        <p:txBody>
          <a:bodyPr/>
          <a:lstStyle/>
          <a:p>
            <a:r>
              <a:rPr lang="en-US" dirty="0"/>
              <a:t>AI Product Management is about </a:t>
            </a:r>
            <a:r>
              <a:rPr lang="en-US" b="1" dirty="0"/>
              <a:t>making the right decisions about where and how to use AI</a:t>
            </a:r>
            <a:r>
              <a:rPr lang="en-US" dirty="0"/>
              <a:t>.</a:t>
            </a:r>
          </a:p>
          <a:p>
            <a:r>
              <a:rPr lang="en-US" dirty="0"/>
              <a:t>Product Managers must:</a:t>
            </a:r>
          </a:p>
          <a:p>
            <a:r>
              <a:rPr lang="en-US" dirty="0"/>
              <a:t>✔ Understand how AI behaves</a:t>
            </a:r>
            <a:br>
              <a:rPr lang="en-US" dirty="0"/>
            </a:br>
            <a:r>
              <a:rPr lang="en-US" dirty="0"/>
              <a:t>✔ Use AI to better understand customers and risks</a:t>
            </a:r>
            <a:br>
              <a:rPr lang="en-US" dirty="0"/>
            </a:br>
            <a:r>
              <a:rPr lang="en-US" dirty="0"/>
              <a:t>✔ Identify financial problems where AI adds real value</a:t>
            </a:r>
            <a:br>
              <a:rPr lang="en-US" dirty="0"/>
            </a:br>
            <a:r>
              <a:rPr lang="en-US" dirty="0"/>
              <a:t>✔ Avoid using AI when simple rules are sufficient</a:t>
            </a:r>
          </a:p>
          <a:p>
            <a:endParaRPr lang="en-IN" dirty="0"/>
          </a:p>
        </p:txBody>
      </p:sp>
    </p:spTree>
    <p:extLst>
      <p:ext uri="{BB962C8B-B14F-4D97-AF65-F5344CB8AC3E}">
        <p14:creationId xmlns:p14="http://schemas.microsoft.com/office/powerpoint/2010/main" val="26859882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EB537-790C-75C2-E44E-45D8BBC4B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80982-E8F1-C9D7-AE0D-938D94A56CF9}"/>
              </a:ext>
            </a:extLst>
          </p:cNvPr>
          <p:cNvSpPr>
            <a:spLocks noGrp="1"/>
          </p:cNvSpPr>
          <p:nvPr>
            <p:ph type="title"/>
          </p:nvPr>
        </p:nvSpPr>
        <p:spPr/>
        <p:txBody>
          <a:bodyPr/>
          <a:lstStyle/>
          <a:p>
            <a:pPr algn="ctr"/>
            <a:r>
              <a:rPr lang="en-US" b="1" dirty="0"/>
              <a:t>Machine Learning Thinking for Finance (Business Perspective)</a:t>
            </a:r>
            <a:endParaRPr lang="en-IN" b="1" dirty="0"/>
          </a:p>
        </p:txBody>
      </p:sp>
      <p:sp>
        <p:nvSpPr>
          <p:cNvPr id="3" name="Content Placeholder 2">
            <a:extLst>
              <a:ext uri="{FF2B5EF4-FFF2-40B4-BE49-F238E27FC236}">
                <a16:creationId xmlns:a16="http://schemas.microsoft.com/office/drawing/2014/main" id="{D1C29409-59CC-CA32-D5CF-07A8B1C51340}"/>
              </a:ext>
            </a:extLst>
          </p:cNvPr>
          <p:cNvSpPr>
            <a:spLocks noGrp="1"/>
          </p:cNvSpPr>
          <p:nvPr>
            <p:ph idx="1"/>
          </p:nvPr>
        </p:nvSpPr>
        <p:spPr>
          <a:xfrm>
            <a:off x="993912" y="2236303"/>
            <a:ext cx="10359887" cy="3940659"/>
          </a:xfrm>
        </p:spPr>
        <p:txBody>
          <a:bodyPr>
            <a:normAutofit/>
          </a:bodyPr>
          <a:lstStyle/>
          <a:p>
            <a:pPr>
              <a:lnSpc>
                <a:spcPct val="200000"/>
              </a:lnSpc>
            </a:pPr>
            <a:r>
              <a:rPr lang="en-US" dirty="0"/>
              <a:t>Machine Learning (ML) is a branch of Artificial Intelligence that </a:t>
            </a:r>
            <a:r>
              <a:rPr lang="en-US" b="1" dirty="0"/>
              <a:t>learns patterns from historical data and uses them to make predictions or decisions</a:t>
            </a:r>
            <a:r>
              <a:rPr lang="en-US" dirty="0"/>
              <a:t>.</a:t>
            </a:r>
          </a:p>
          <a:p>
            <a:pPr>
              <a:lnSpc>
                <a:spcPct val="200000"/>
              </a:lnSpc>
            </a:pPr>
            <a:endParaRPr lang="en-IN" dirty="0"/>
          </a:p>
        </p:txBody>
      </p:sp>
    </p:spTree>
    <p:extLst>
      <p:ext uri="{BB962C8B-B14F-4D97-AF65-F5344CB8AC3E}">
        <p14:creationId xmlns:p14="http://schemas.microsoft.com/office/powerpoint/2010/main" val="9952086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0E10E-3895-737F-0DDB-71071D98AA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D505B6-F6C3-D7C1-EEAF-D8D8699DAAE4}"/>
              </a:ext>
            </a:extLst>
          </p:cNvPr>
          <p:cNvSpPr>
            <a:spLocks noGrp="1"/>
          </p:cNvSpPr>
          <p:nvPr>
            <p:ph idx="1"/>
          </p:nvPr>
        </p:nvSpPr>
        <p:spPr/>
        <p:txBody>
          <a:bodyPr/>
          <a:lstStyle/>
          <a:p>
            <a:r>
              <a:rPr lang="en-US" dirty="0"/>
              <a:t>Instead of writing thousands of rules manually, ML systems </a:t>
            </a:r>
            <a:r>
              <a:rPr lang="en-US" b="1" dirty="0"/>
              <a:t>learn from past financial data</a:t>
            </a:r>
            <a:r>
              <a:rPr lang="en-US" dirty="0"/>
              <a:t> such as:</a:t>
            </a:r>
          </a:p>
          <a:p>
            <a:r>
              <a:rPr lang="en-US" dirty="0"/>
              <a:t>transaction history</a:t>
            </a:r>
          </a:p>
          <a:p>
            <a:r>
              <a:rPr lang="en-US" dirty="0"/>
              <a:t>loan repayments</a:t>
            </a:r>
          </a:p>
          <a:p>
            <a:r>
              <a:rPr lang="en-US" dirty="0"/>
              <a:t>payment behavior</a:t>
            </a:r>
          </a:p>
          <a:p>
            <a:r>
              <a:rPr lang="en-US" dirty="0"/>
              <a:t>spending patterns</a:t>
            </a:r>
          </a:p>
          <a:p>
            <a:r>
              <a:rPr lang="en-US" dirty="0"/>
              <a:t>customer interactions</a:t>
            </a:r>
          </a:p>
          <a:p>
            <a:r>
              <a:rPr lang="en-US" dirty="0"/>
              <a:t>Using this data, ML can </a:t>
            </a:r>
            <a:r>
              <a:rPr lang="en-US" b="1" dirty="0"/>
              <a:t>identify patterns, predict outcomes, and classify customers or transactions</a:t>
            </a:r>
            <a:r>
              <a:rPr lang="en-US" dirty="0"/>
              <a:t>.</a:t>
            </a:r>
          </a:p>
          <a:p>
            <a:endParaRPr lang="en-IN" dirty="0"/>
          </a:p>
        </p:txBody>
      </p:sp>
    </p:spTree>
    <p:extLst>
      <p:ext uri="{BB962C8B-B14F-4D97-AF65-F5344CB8AC3E}">
        <p14:creationId xmlns:p14="http://schemas.microsoft.com/office/powerpoint/2010/main" val="15189508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1C340-EF39-DDF7-D492-6344B860E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60EC3-D6E4-D2BB-1D3B-6A9F517DF9C6}"/>
              </a:ext>
            </a:extLst>
          </p:cNvPr>
          <p:cNvSpPr>
            <a:spLocks noGrp="1"/>
          </p:cNvSpPr>
          <p:nvPr>
            <p:ph type="title"/>
          </p:nvPr>
        </p:nvSpPr>
        <p:spPr/>
        <p:txBody>
          <a:bodyPr/>
          <a:lstStyle/>
          <a:p>
            <a:pPr algn="ctr"/>
            <a:r>
              <a:rPr lang="en-US" b="1" dirty="0"/>
              <a:t>How AI Identifies Patterns (Fraud, Defaults)</a:t>
            </a:r>
            <a:br>
              <a:rPr lang="en-US" b="1" dirty="0"/>
            </a:br>
            <a:endParaRPr lang="en-IN" dirty="0"/>
          </a:p>
        </p:txBody>
      </p:sp>
      <p:sp>
        <p:nvSpPr>
          <p:cNvPr id="3" name="Content Placeholder 2">
            <a:extLst>
              <a:ext uri="{FF2B5EF4-FFF2-40B4-BE49-F238E27FC236}">
                <a16:creationId xmlns:a16="http://schemas.microsoft.com/office/drawing/2014/main" id="{CEFAB1FB-29A7-F2B8-806F-FFA36B1E887F}"/>
              </a:ext>
            </a:extLst>
          </p:cNvPr>
          <p:cNvSpPr>
            <a:spLocks noGrp="1"/>
          </p:cNvSpPr>
          <p:nvPr>
            <p:ph idx="1"/>
          </p:nvPr>
        </p:nvSpPr>
        <p:spPr/>
        <p:txBody>
          <a:bodyPr/>
          <a:lstStyle/>
          <a:p>
            <a:r>
              <a:rPr lang="en-US" dirty="0"/>
              <a:t>One of the most powerful capabilities of AI is detecting patterns that humans cannot easily see.</a:t>
            </a:r>
          </a:p>
          <a:p>
            <a:r>
              <a:rPr lang="en-US" dirty="0"/>
              <a:t>Financial systems generate massive amounts of data:</a:t>
            </a:r>
          </a:p>
          <a:p>
            <a:r>
              <a:rPr lang="en-US" dirty="0"/>
              <a:t>millions of transactions</a:t>
            </a:r>
          </a:p>
          <a:p>
            <a:r>
              <a:rPr lang="en-US" dirty="0"/>
              <a:t>thousands of customers</a:t>
            </a:r>
          </a:p>
          <a:p>
            <a:r>
              <a:rPr lang="en-US" dirty="0"/>
              <a:t>complex payment behaviors</a:t>
            </a:r>
          </a:p>
          <a:p>
            <a:r>
              <a:rPr lang="en-US" dirty="0"/>
              <a:t>AI analyzes this data and identifies unusual or risky patterns.</a:t>
            </a:r>
          </a:p>
          <a:p>
            <a:endParaRPr lang="en-IN" dirty="0"/>
          </a:p>
        </p:txBody>
      </p:sp>
    </p:spTree>
    <p:extLst>
      <p:ext uri="{BB962C8B-B14F-4D97-AF65-F5344CB8AC3E}">
        <p14:creationId xmlns:p14="http://schemas.microsoft.com/office/powerpoint/2010/main" val="33628794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1050B-3781-68F3-8CCF-EF496AEB1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21E0B0-71F1-4CF5-7E1A-FA39517A4686}"/>
              </a:ext>
            </a:extLst>
          </p:cNvPr>
          <p:cNvSpPr>
            <a:spLocks noGrp="1"/>
          </p:cNvSpPr>
          <p:nvPr>
            <p:ph type="title"/>
          </p:nvPr>
        </p:nvSpPr>
        <p:spPr/>
        <p:txBody>
          <a:bodyPr>
            <a:normAutofit fontScale="90000"/>
          </a:bodyPr>
          <a:lstStyle/>
          <a:p>
            <a:pPr algn="ctr"/>
            <a:br>
              <a:rPr lang="en-US" b="1" dirty="0"/>
            </a:br>
            <a:r>
              <a:rPr lang="en-US" b="1" dirty="0"/>
              <a:t>Example: Fraud Detection</a:t>
            </a:r>
            <a:br>
              <a:rPr lang="en-US" b="1" dirty="0"/>
            </a:br>
            <a:endParaRPr lang="en-IN" dirty="0"/>
          </a:p>
        </p:txBody>
      </p:sp>
      <p:sp>
        <p:nvSpPr>
          <p:cNvPr id="3" name="Content Placeholder 2">
            <a:extLst>
              <a:ext uri="{FF2B5EF4-FFF2-40B4-BE49-F238E27FC236}">
                <a16:creationId xmlns:a16="http://schemas.microsoft.com/office/drawing/2014/main" id="{5A8C5D75-A0E0-3B82-E4A2-A2421A6FDB73}"/>
              </a:ext>
            </a:extLst>
          </p:cNvPr>
          <p:cNvSpPr>
            <a:spLocks noGrp="1"/>
          </p:cNvSpPr>
          <p:nvPr>
            <p:ph idx="1"/>
          </p:nvPr>
        </p:nvSpPr>
        <p:spPr/>
        <p:txBody>
          <a:bodyPr/>
          <a:lstStyle/>
          <a:p>
            <a:r>
              <a:rPr lang="en-US" dirty="0"/>
              <a:t>Fraudulent transactions often follow hidden patterns.</a:t>
            </a:r>
          </a:p>
          <a:p>
            <a:r>
              <a:rPr lang="en-US" dirty="0"/>
              <a:t>Example signals AI may detect:</a:t>
            </a:r>
          </a:p>
          <a:p>
            <a:r>
              <a:rPr lang="en-US" dirty="0"/>
              <a:t>sudden large purchases in another country</a:t>
            </a:r>
          </a:p>
          <a:p>
            <a:r>
              <a:rPr lang="en-US" dirty="0"/>
              <a:t>many transactions within seconds</a:t>
            </a:r>
          </a:p>
          <a:p>
            <a:r>
              <a:rPr lang="en-US" dirty="0"/>
              <a:t>unusual merchant categories</a:t>
            </a:r>
          </a:p>
          <a:p>
            <a:r>
              <a:rPr lang="en-US" dirty="0"/>
              <a:t>transactions at unusual times</a:t>
            </a:r>
          </a:p>
          <a:p>
            <a:endParaRPr lang="en-IN" dirty="0"/>
          </a:p>
        </p:txBody>
      </p:sp>
    </p:spTree>
    <p:extLst>
      <p:ext uri="{BB962C8B-B14F-4D97-AF65-F5344CB8AC3E}">
        <p14:creationId xmlns:p14="http://schemas.microsoft.com/office/powerpoint/2010/main" val="9634280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34149-2305-026B-51EB-170BCEC2A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CC1076-A684-09A4-44AC-F1FD843E8929}"/>
              </a:ext>
            </a:extLst>
          </p:cNvPr>
          <p:cNvSpPr>
            <a:spLocks noGrp="1"/>
          </p:cNvSpPr>
          <p:nvPr>
            <p:ph type="title"/>
          </p:nvPr>
        </p:nvSpPr>
        <p:spPr/>
        <p:txBody>
          <a:bodyPr/>
          <a:lstStyle/>
          <a:p>
            <a:pPr algn="ctr"/>
            <a:r>
              <a:rPr lang="en-IN" b="1" dirty="0"/>
              <a:t>Example pattern</a:t>
            </a:r>
          </a:p>
        </p:txBody>
      </p:sp>
      <p:sp>
        <p:nvSpPr>
          <p:cNvPr id="3" name="Content Placeholder 2">
            <a:extLst>
              <a:ext uri="{FF2B5EF4-FFF2-40B4-BE49-F238E27FC236}">
                <a16:creationId xmlns:a16="http://schemas.microsoft.com/office/drawing/2014/main" id="{71298D35-E9A3-3E64-5732-D04330339BEF}"/>
              </a:ext>
            </a:extLst>
          </p:cNvPr>
          <p:cNvSpPr>
            <a:spLocks noGrp="1"/>
          </p:cNvSpPr>
          <p:nvPr>
            <p:ph idx="1"/>
          </p:nvPr>
        </p:nvSpPr>
        <p:spPr/>
        <p:txBody>
          <a:bodyPr/>
          <a:lstStyle/>
          <a:p>
            <a:r>
              <a:rPr lang="en-US" dirty="0"/>
              <a:t>Normal behaviour:</a:t>
            </a:r>
          </a:p>
          <a:p>
            <a:r>
              <a:rPr lang="en-US" dirty="0"/>
              <a:t>Customer spends ₹2000–₹5000 in local stores.</a:t>
            </a:r>
          </a:p>
          <a:p>
            <a:endParaRPr lang="en-US" dirty="0"/>
          </a:p>
          <a:p>
            <a:r>
              <a:rPr lang="en-US" dirty="0"/>
              <a:t>Suspicious behaviour:</a:t>
            </a:r>
          </a:p>
          <a:p>
            <a:r>
              <a:rPr lang="en-US" dirty="0"/>
              <a:t>₹85,000 transaction in another country at midnight.</a:t>
            </a:r>
            <a:endParaRPr lang="en-IN" dirty="0"/>
          </a:p>
        </p:txBody>
      </p:sp>
    </p:spTree>
    <p:extLst>
      <p:ext uri="{BB962C8B-B14F-4D97-AF65-F5344CB8AC3E}">
        <p14:creationId xmlns:p14="http://schemas.microsoft.com/office/powerpoint/2010/main" val="13655977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1EA8D-9376-5E56-7BC7-310589B05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54B9C-C63D-9BB3-A7C5-11B6DC7B98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B153B3-7223-622F-04B1-BFF5C5A9324C}"/>
              </a:ext>
            </a:extLst>
          </p:cNvPr>
          <p:cNvSpPr>
            <a:spLocks noGrp="1"/>
          </p:cNvSpPr>
          <p:nvPr>
            <p:ph idx="1"/>
          </p:nvPr>
        </p:nvSpPr>
        <p:spPr/>
        <p:txBody>
          <a:bodyPr/>
          <a:lstStyle/>
          <a:p>
            <a:r>
              <a:rPr lang="en-US" dirty="0"/>
              <a:t>AI learns these patterns from past fraud cases and flags suspicious transactions instantly.</a:t>
            </a:r>
          </a:p>
          <a:p>
            <a:r>
              <a:rPr lang="en-US" dirty="0"/>
              <a:t>This allows banks to:</a:t>
            </a:r>
          </a:p>
          <a:p>
            <a:r>
              <a:rPr lang="en-US" dirty="0"/>
              <a:t>block suspicious transactions</a:t>
            </a:r>
          </a:p>
          <a:p>
            <a:r>
              <a:rPr lang="en-US" dirty="0"/>
              <a:t>send alerts to customers</a:t>
            </a:r>
          </a:p>
          <a:p>
            <a:r>
              <a:rPr lang="en-US" dirty="0"/>
              <a:t>prevent financial losses</a:t>
            </a:r>
          </a:p>
          <a:p>
            <a:endParaRPr lang="en-IN" dirty="0"/>
          </a:p>
        </p:txBody>
      </p:sp>
    </p:spTree>
    <p:extLst>
      <p:ext uri="{BB962C8B-B14F-4D97-AF65-F5344CB8AC3E}">
        <p14:creationId xmlns:p14="http://schemas.microsoft.com/office/powerpoint/2010/main" val="17607342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74C4C-D9BD-0478-8595-D9B9F1F66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ADA5A-5C1D-8450-F199-38AFD9732C06}"/>
              </a:ext>
            </a:extLst>
          </p:cNvPr>
          <p:cNvSpPr>
            <a:spLocks noGrp="1"/>
          </p:cNvSpPr>
          <p:nvPr>
            <p:ph type="title"/>
          </p:nvPr>
        </p:nvSpPr>
        <p:spPr/>
        <p:txBody>
          <a:bodyPr>
            <a:normAutofit fontScale="90000"/>
          </a:bodyPr>
          <a:lstStyle/>
          <a:p>
            <a:pPr algn="ctr"/>
            <a:br>
              <a:rPr lang="en-US" b="1" dirty="0"/>
            </a:br>
            <a:r>
              <a:rPr lang="en-US" b="1" dirty="0"/>
              <a:t>Example: Loan Default Pattern</a:t>
            </a:r>
            <a:br>
              <a:rPr lang="en-US" b="1" dirty="0"/>
            </a:br>
            <a:endParaRPr lang="en-IN" dirty="0"/>
          </a:p>
        </p:txBody>
      </p:sp>
      <p:sp>
        <p:nvSpPr>
          <p:cNvPr id="3" name="Content Placeholder 2">
            <a:extLst>
              <a:ext uri="{FF2B5EF4-FFF2-40B4-BE49-F238E27FC236}">
                <a16:creationId xmlns:a16="http://schemas.microsoft.com/office/drawing/2014/main" id="{20F694F5-A49C-C1FE-9185-C9F4FC278D6A}"/>
              </a:ext>
            </a:extLst>
          </p:cNvPr>
          <p:cNvSpPr>
            <a:spLocks noGrp="1"/>
          </p:cNvSpPr>
          <p:nvPr>
            <p:ph idx="1"/>
          </p:nvPr>
        </p:nvSpPr>
        <p:spPr/>
        <p:txBody>
          <a:bodyPr/>
          <a:lstStyle/>
          <a:p>
            <a:r>
              <a:rPr lang="en-US" dirty="0"/>
              <a:t>AI can analyze past loan data and identify patterns such as:</a:t>
            </a:r>
          </a:p>
          <a:p>
            <a:r>
              <a:rPr lang="en-US" dirty="0"/>
              <a:t>Customers who:</a:t>
            </a:r>
          </a:p>
          <a:p>
            <a:r>
              <a:rPr lang="en-US" dirty="0"/>
              <a:t>frequently miss credit card payments</a:t>
            </a:r>
          </a:p>
          <a:p>
            <a:r>
              <a:rPr lang="en-US" dirty="0"/>
              <a:t>have unstable income</a:t>
            </a:r>
          </a:p>
          <a:p>
            <a:r>
              <a:rPr lang="en-US" dirty="0"/>
              <a:t>have high credit utilization</a:t>
            </a:r>
          </a:p>
          <a:p>
            <a:r>
              <a:rPr lang="en-US" dirty="0"/>
              <a:t>may have higher probability of defaulting on loans.</a:t>
            </a:r>
          </a:p>
          <a:p>
            <a:r>
              <a:rPr lang="en-US" dirty="0"/>
              <a:t>These patterns help financial institutions manage lending risk better.</a:t>
            </a:r>
          </a:p>
          <a:p>
            <a:endParaRPr lang="en-IN" dirty="0"/>
          </a:p>
        </p:txBody>
      </p:sp>
    </p:spTree>
    <p:extLst>
      <p:ext uri="{BB962C8B-B14F-4D97-AF65-F5344CB8AC3E}">
        <p14:creationId xmlns:p14="http://schemas.microsoft.com/office/powerpoint/2010/main" val="30839627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77204-71B9-22F4-493E-01B240164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273A1-F6EF-892F-6F26-2D515805B558}"/>
              </a:ext>
            </a:extLst>
          </p:cNvPr>
          <p:cNvSpPr>
            <a:spLocks noGrp="1"/>
          </p:cNvSpPr>
          <p:nvPr>
            <p:ph type="title"/>
          </p:nvPr>
        </p:nvSpPr>
        <p:spPr/>
        <p:txBody>
          <a:bodyPr/>
          <a:lstStyle/>
          <a:p>
            <a:pPr algn="ctr"/>
            <a:r>
              <a:rPr lang="en-US" b="1" dirty="0"/>
              <a:t>How AI Predicts Outcomes (Risk, Cash Flow)</a:t>
            </a:r>
            <a:endParaRPr lang="en-IN" b="1" dirty="0"/>
          </a:p>
        </p:txBody>
      </p:sp>
      <p:sp>
        <p:nvSpPr>
          <p:cNvPr id="3" name="Content Placeholder 2">
            <a:extLst>
              <a:ext uri="{FF2B5EF4-FFF2-40B4-BE49-F238E27FC236}">
                <a16:creationId xmlns:a16="http://schemas.microsoft.com/office/drawing/2014/main" id="{2058064C-0DBE-9F9C-C55E-39FF3E9B4069}"/>
              </a:ext>
            </a:extLst>
          </p:cNvPr>
          <p:cNvSpPr>
            <a:spLocks noGrp="1"/>
          </p:cNvSpPr>
          <p:nvPr>
            <p:ph idx="1"/>
          </p:nvPr>
        </p:nvSpPr>
        <p:spPr/>
        <p:txBody>
          <a:bodyPr/>
          <a:lstStyle/>
          <a:p>
            <a:r>
              <a:rPr lang="en-US" dirty="0"/>
              <a:t>Another important capability of AI is prediction.</a:t>
            </a:r>
          </a:p>
          <a:p>
            <a:r>
              <a:rPr lang="en-US" dirty="0"/>
              <a:t>Prediction means estimating what is likely to happen in the future based on past data.</a:t>
            </a:r>
          </a:p>
          <a:p>
            <a:r>
              <a:rPr lang="en-US" dirty="0"/>
              <a:t>This is extremely valuable in finance because organizations constantly need to predict:</a:t>
            </a:r>
          </a:p>
          <a:p>
            <a:r>
              <a:rPr lang="en-US" dirty="0"/>
              <a:t>risk</a:t>
            </a:r>
          </a:p>
          <a:p>
            <a:r>
              <a:rPr lang="en-US" dirty="0"/>
              <a:t>revenue</a:t>
            </a:r>
          </a:p>
          <a:p>
            <a:r>
              <a:rPr lang="en-US" dirty="0"/>
              <a:t>cash flow</a:t>
            </a:r>
          </a:p>
          <a:p>
            <a:r>
              <a:rPr lang="en-US" dirty="0"/>
              <a:t>repayment behavior</a:t>
            </a:r>
          </a:p>
          <a:p>
            <a:endParaRPr lang="en-IN" dirty="0"/>
          </a:p>
        </p:txBody>
      </p:sp>
    </p:spTree>
    <p:extLst>
      <p:ext uri="{BB962C8B-B14F-4D97-AF65-F5344CB8AC3E}">
        <p14:creationId xmlns:p14="http://schemas.microsoft.com/office/powerpoint/2010/main" val="28115397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05351-7703-BF17-56D4-F49CB1341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05CFA-CB4C-2C98-E98C-9777DED29C0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710CF7F-3968-3FFF-0AD0-59D975948425}"/>
              </a:ext>
            </a:extLst>
          </p:cNvPr>
          <p:cNvSpPr>
            <a:spLocks noGrp="1"/>
          </p:cNvSpPr>
          <p:nvPr>
            <p:ph idx="1"/>
          </p:nvPr>
        </p:nvSpPr>
        <p:spPr/>
        <p:txBody>
          <a:bodyPr/>
          <a:lstStyle/>
          <a:p>
            <a:r>
              <a:rPr lang="en-US" b="1" dirty="0"/>
              <a:t>Example: Credit Risk Prediction</a:t>
            </a:r>
          </a:p>
          <a:p>
            <a:r>
              <a:rPr lang="en-US" dirty="0"/>
              <a:t>AI analyzes historical loan data including:</a:t>
            </a:r>
          </a:p>
          <a:p>
            <a:r>
              <a:rPr lang="en-US" dirty="0"/>
              <a:t>income levels</a:t>
            </a:r>
          </a:p>
          <a:p>
            <a:r>
              <a:rPr lang="en-US" dirty="0"/>
              <a:t>repayment history</a:t>
            </a:r>
          </a:p>
          <a:p>
            <a:r>
              <a:rPr lang="en-US" dirty="0"/>
              <a:t>outstanding debts</a:t>
            </a:r>
          </a:p>
          <a:p>
            <a:r>
              <a:rPr lang="en-US" dirty="0"/>
              <a:t>employment stability</a:t>
            </a:r>
          </a:p>
          <a:p>
            <a:r>
              <a:rPr lang="en-US" dirty="0"/>
              <a:t>Using this information, AI predicts:</a:t>
            </a:r>
          </a:p>
          <a:p>
            <a:r>
              <a:rPr lang="en-US" b="1" dirty="0"/>
              <a:t>“What is the probability that this borrower may default?”</a:t>
            </a:r>
            <a:endParaRPr lang="en-US" dirty="0"/>
          </a:p>
          <a:p>
            <a:endParaRPr lang="en-IN" dirty="0"/>
          </a:p>
        </p:txBody>
      </p:sp>
    </p:spTree>
    <p:extLst>
      <p:ext uri="{BB962C8B-B14F-4D97-AF65-F5344CB8AC3E}">
        <p14:creationId xmlns:p14="http://schemas.microsoft.com/office/powerpoint/2010/main" val="18674676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C481A-5143-75F9-1D2B-E547312C28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640ACD-E194-9012-4173-D020F614BB28}"/>
              </a:ext>
            </a:extLst>
          </p:cNvPr>
          <p:cNvSpPr>
            <a:spLocks noGrp="1"/>
          </p:cNvSpPr>
          <p:nvPr>
            <p:ph idx="1"/>
          </p:nvPr>
        </p:nvSpPr>
        <p:spPr/>
        <p:txBody>
          <a:bodyPr/>
          <a:lstStyle/>
          <a:p>
            <a:r>
              <a:rPr lang="en-US" dirty="0"/>
              <a:t>Banks can use this prediction to:</a:t>
            </a:r>
          </a:p>
          <a:p>
            <a:r>
              <a:rPr lang="en-US" dirty="0"/>
              <a:t>approve or reject loans</a:t>
            </a:r>
          </a:p>
          <a:p>
            <a:r>
              <a:rPr lang="en-US" dirty="0"/>
              <a:t>adjust interest rates</a:t>
            </a:r>
          </a:p>
          <a:p>
            <a:r>
              <a:rPr lang="en-US" dirty="0"/>
              <a:t>reduce exposure to risky borrowers</a:t>
            </a:r>
          </a:p>
          <a:p>
            <a:endParaRPr lang="en-IN" dirty="0"/>
          </a:p>
        </p:txBody>
      </p:sp>
    </p:spTree>
    <p:extLst>
      <p:ext uri="{BB962C8B-B14F-4D97-AF65-F5344CB8AC3E}">
        <p14:creationId xmlns:p14="http://schemas.microsoft.com/office/powerpoint/2010/main" val="21399456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AF516-47D7-E187-4BD4-B9827501E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015D7-81FD-5B7C-9259-E145A06D7372}"/>
              </a:ext>
            </a:extLst>
          </p:cNvPr>
          <p:cNvSpPr>
            <a:spLocks noGrp="1"/>
          </p:cNvSpPr>
          <p:nvPr>
            <p:ph type="title"/>
          </p:nvPr>
        </p:nvSpPr>
        <p:spPr/>
        <p:txBody>
          <a:bodyPr>
            <a:normAutofit fontScale="90000"/>
          </a:bodyPr>
          <a:lstStyle/>
          <a:p>
            <a:pPr algn="ctr"/>
            <a:br>
              <a:rPr lang="en-US" b="1" dirty="0"/>
            </a:br>
            <a:r>
              <a:rPr lang="en-US" b="1" dirty="0"/>
              <a:t>Example: Cash Flow Forecasting</a:t>
            </a:r>
            <a:br>
              <a:rPr lang="en-US" b="1" dirty="0"/>
            </a:br>
            <a:endParaRPr lang="en-IN" dirty="0"/>
          </a:p>
        </p:txBody>
      </p:sp>
      <p:sp>
        <p:nvSpPr>
          <p:cNvPr id="3" name="Content Placeholder 2">
            <a:extLst>
              <a:ext uri="{FF2B5EF4-FFF2-40B4-BE49-F238E27FC236}">
                <a16:creationId xmlns:a16="http://schemas.microsoft.com/office/drawing/2014/main" id="{10FDC8B0-0495-9DA5-6989-998B0BBB592E}"/>
              </a:ext>
            </a:extLst>
          </p:cNvPr>
          <p:cNvSpPr>
            <a:spLocks noGrp="1"/>
          </p:cNvSpPr>
          <p:nvPr>
            <p:ph idx="1"/>
          </p:nvPr>
        </p:nvSpPr>
        <p:spPr/>
        <p:txBody>
          <a:bodyPr/>
          <a:lstStyle/>
          <a:p>
            <a:r>
              <a:rPr lang="en-US" dirty="0"/>
              <a:t>Finance teams need to estimate future cash inflows and outflows.</a:t>
            </a:r>
          </a:p>
          <a:p>
            <a:r>
              <a:rPr lang="en-US" dirty="0"/>
              <a:t>AI can analyze:</a:t>
            </a:r>
          </a:p>
          <a:p>
            <a:r>
              <a:rPr lang="en-US" dirty="0"/>
              <a:t>historical revenue</a:t>
            </a:r>
          </a:p>
          <a:p>
            <a:r>
              <a:rPr lang="en-US" dirty="0"/>
              <a:t>seasonal patterns</a:t>
            </a:r>
          </a:p>
          <a:p>
            <a:r>
              <a:rPr lang="en-US" dirty="0"/>
              <a:t>supplier payments</a:t>
            </a:r>
          </a:p>
          <a:p>
            <a:r>
              <a:rPr lang="en-US" dirty="0"/>
              <a:t>customer payment delays</a:t>
            </a:r>
          </a:p>
          <a:p>
            <a:endParaRPr lang="en-IN" dirty="0"/>
          </a:p>
        </p:txBody>
      </p:sp>
    </p:spTree>
    <p:extLst>
      <p:ext uri="{BB962C8B-B14F-4D97-AF65-F5344CB8AC3E}">
        <p14:creationId xmlns:p14="http://schemas.microsoft.com/office/powerpoint/2010/main" val="34676250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4F0AF-EECE-2BA8-A8E7-EEEEAFEB1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54EA3-0649-072D-81ED-1FE8278EDEB4}"/>
              </a:ext>
            </a:extLst>
          </p:cNvPr>
          <p:cNvSpPr>
            <a:spLocks noGrp="1"/>
          </p:cNvSpPr>
          <p:nvPr>
            <p:ph type="title"/>
          </p:nvPr>
        </p:nvSpPr>
        <p:spPr/>
        <p:txBody>
          <a:bodyPr/>
          <a:lstStyle/>
          <a:p>
            <a:pPr algn="ctr"/>
            <a:r>
              <a:rPr lang="en-IN" b="1" dirty="0"/>
              <a:t>Example insight</a:t>
            </a:r>
          </a:p>
        </p:txBody>
      </p:sp>
      <p:sp>
        <p:nvSpPr>
          <p:cNvPr id="3" name="Content Placeholder 2">
            <a:extLst>
              <a:ext uri="{FF2B5EF4-FFF2-40B4-BE49-F238E27FC236}">
                <a16:creationId xmlns:a16="http://schemas.microsoft.com/office/drawing/2014/main" id="{2A82860C-0239-7C5A-DD06-513CD2E7B961}"/>
              </a:ext>
            </a:extLst>
          </p:cNvPr>
          <p:cNvSpPr>
            <a:spLocks noGrp="1"/>
          </p:cNvSpPr>
          <p:nvPr>
            <p:ph idx="1"/>
          </p:nvPr>
        </p:nvSpPr>
        <p:spPr/>
        <p:txBody>
          <a:bodyPr/>
          <a:lstStyle/>
          <a:p>
            <a:r>
              <a:rPr lang="en-US" dirty="0"/>
              <a:t>AI prediction:</a:t>
            </a:r>
          </a:p>
          <a:p>
            <a:r>
              <a:rPr lang="en-US" dirty="0"/>
              <a:t>Cash inflow next month may drop by 18%</a:t>
            </a:r>
          </a:p>
          <a:p>
            <a:r>
              <a:rPr lang="en-US" dirty="0"/>
              <a:t>due to delayed customer payments.</a:t>
            </a:r>
          </a:p>
          <a:p>
            <a:endParaRPr lang="en-US" dirty="0"/>
          </a:p>
          <a:p>
            <a:r>
              <a:rPr lang="en-US" dirty="0"/>
              <a:t>This allows companies to </a:t>
            </a:r>
            <a:r>
              <a:rPr lang="en-US" b="1" dirty="0"/>
              <a:t>plan working capital more effectively</a:t>
            </a:r>
            <a:r>
              <a:rPr lang="en-US" dirty="0"/>
              <a:t>.</a:t>
            </a:r>
            <a:endParaRPr lang="en-IN" dirty="0"/>
          </a:p>
        </p:txBody>
      </p:sp>
    </p:spTree>
    <p:extLst>
      <p:ext uri="{BB962C8B-B14F-4D97-AF65-F5344CB8AC3E}">
        <p14:creationId xmlns:p14="http://schemas.microsoft.com/office/powerpoint/2010/main" val="34577946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185F1-80F9-AA37-AD9E-AB3C7A409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5218E-B838-7C51-CEAD-1857F8284131}"/>
              </a:ext>
            </a:extLst>
          </p:cNvPr>
          <p:cNvSpPr>
            <a:spLocks noGrp="1"/>
          </p:cNvSpPr>
          <p:nvPr>
            <p:ph type="title"/>
          </p:nvPr>
        </p:nvSpPr>
        <p:spPr/>
        <p:txBody>
          <a:bodyPr/>
          <a:lstStyle/>
          <a:p>
            <a:pPr algn="ctr"/>
            <a:r>
              <a:rPr lang="en-US" b="1" dirty="0"/>
              <a:t>How AI Classifies Customers </a:t>
            </a:r>
            <a:br>
              <a:rPr lang="en-US" b="1" dirty="0"/>
            </a:br>
            <a:r>
              <a:rPr lang="en-US" b="1" dirty="0"/>
              <a:t>(Priority, Risk Levels)</a:t>
            </a:r>
            <a:endParaRPr lang="en-IN" b="1" dirty="0"/>
          </a:p>
        </p:txBody>
      </p:sp>
      <p:sp>
        <p:nvSpPr>
          <p:cNvPr id="3" name="Content Placeholder 2">
            <a:extLst>
              <a:ext uri="{FF2B5EF4-FFF2-40B4-BE49-F238E27FC236}">
                <a16:creationId xmlns:a16="http://schemas.microsoft.com/office/drawing/2014/main" id="{70E3ACEC-860E-381E-7518-DADD62207905}"/>
              </a:ext>
            </a:extLst>
          </p:cNvPr>
          <p:cNvSpPr>
            <a:spLocks noGrp="1"/>
          </p:cNvSpPr>
          <p:nvPr>
            <p:ph idx="1"/>
          </p:nvPr>
        </p:nvSpPr>
        <p:spPr/>
        <p:txBody>
          <a:bodyPr/>
          <a:lstStyle/>
          <a:p>
            <a:r>
              <a:rPr lang="en-US" dirty="0"/>
              <a:t>Classification means </a:t>
            </a:r>
            <a:r>
              <a:rPr lang="en-US" b="1" dirty="0"/>
              <a:t>grouping items into categories</a:t>
            </a:r>
            <a:r>
              <a:rPr lang="en-US" dirty="0"/>
              <a:t>.</a:t>
            </a:r>
          </a:p>
          <a:p>
            <a:r>
              <a:rPr lang="en-US" dirty="0"/>
              <a:t>In finance, AI can classify:</a:t>
            </a:r>
          </a:p>
          <a:p>
            <a:r>
              <a:rPr lang="en-US" dirty="0"/>
              <a:t>customers</a:t>
            </a:r>
          </a:p>
          <a:p>
            <a:r>
              <a:rPr lang="en-US" dirty="0"/>
              <a:t>transactions</a:t>
            </a:r>
          </a:p>
          <a:p>
            <a:r>
              <a:rPr lang="en-US" dirty="0"/>
              <a:t>loans</a:t>
            </a:r>
          </a:p>
          <a:p>
            <a:r>
              <a:rPr lang="en-US" dirty="0"/>
              <a:t>vendors</a:t>
            </a:r>
          </a:p>
          <a:p>
            <a:r>
              <a:rPr lang="en-US" dirty="0"/>
              <a:t>based on risk, value, or behavior.</a:t>
            </a:r>
          </a:p>
          <a:p>
            <a:endParaRPr lang="en-IN" dirty="0"/>
          </a:p>
        </p:txBody>
      </p:sp>
    </p:spTree>
    <p:extLst>
      <p:ext uri="{BB962C8B-B14F-4D97-AF65-F5344CB8AC3E}">
        <p14:creationId xmlns:p14="http://schemas.microsoft.com/office/powerpoint/2010/main" val="24023188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3F2F6-F5BB-6E9A-4667-CEC040FD1E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8ABA10-1F44-45AE-71E3-165EE19BF6ED}"/>
              </a:ext>
            </a:extLst>
          </p:cNvPr>
          <p:cNvSpPr>
            <a:spLocks noGrp="1"/>
          </p:cNvSpPr>
          <p:nvPr>
            <p:ph idx="1"/>
          </p:nvPr>
        </p:nvSpPr>
        <p:spPr/>
        <p:txBody>
          <a:bodyPr/>
          <a:lstStyle/>
          <a:p>
            <a:r>
              <a:rPr lang="en-US" dirty="0"/>
              <a:t>Banks can use this classification to:</a:t>
            </a:r>
          </a:p>
          <a:p>
            <a:r>
              <a:rPr lang="en-US" dirty="0"/>
              <a:t>monitor high-risk customers</a:t>
            </a:r>
          </a:p>
          <a:p>
            <a:r>
              <a:rPr lang="en-US" dirty="0"/>
              <a:t>limit credit exposure</a:t>
            </a:r>
          </a:p>
          <a:p>
            <a:r>
              <a:rPr lang="en-US" dirty="0"/>
              <a:t>trigger additional verification</a:t>
            </a:r>
          </a:p>
          <a:p>
            <a:endParaRPr lang="en-IN" dirty="0"/>
          </a:p>
        </p:txBody>
      </p:sp>
    </p:spTree>
    <p:extLst>
      <p:ext uri="{BB962C8B-B14F-4D97-AF65-F5344CB8AC3E}">
        <p14:creationId xmlns:p14="http://schemas.microsoft.com/office/powerpoint/2010/main" val="36286610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1009F-A474-43CE-B80E-DDC2D7873871}"/>
              </a:ext>
            </a:extLst>
          </p:cNvPr>
          <p:cNvSpPr>
            <a:spLocks noGrp="1"/>
          </p:cNvSpPr>
          <p:nvPr>
            <p:ph type="title"/>
          </p:nvPr>
        </p:nvSpPr>
        <p:spPr/>
        <p:txBody>
          <a:bodyPr/>
          <a:lstStyle/>
          <a:p>
            <a:r>
              <a:rPr lang="en-US" b="1" dirty="0"/>
              <a:t>Example: Customer Priority Segmentation</a:t>
            </a:r>
            <a:br>
              <a:rPr lang="en-US" b="1" dirty="0"/>
            </a:br>
            <a:endParaRPr lang="en-IN" dirty="0"/>
          </a:p>
        </p:txBody>
      </p:sp>
      <p:sp>
        <p:nvSpPr>
          <p:cNvPr id="3" name="Content Placeholder 2">
            <a:extLst>
              <a:ext uri="{FF2B5EF4-FFF2-40B4-BE49-F238E27FC236}">
                <a16:creationId xmlns:a16="http://schemas.microsoft.com/office/drawing/2014/main" id="{80E2FB57-BE0A-299B-0BB5-6B552D045D80}"/>
              </a:ext>
            </a:extLst>
          </p:cNvPr>
          <p:cNvSpPr>
            <a:spLocks noGrp="1"/>
          </p:cNvSpPr>
          <p:nvPr>
            <p:ph idx="1"/>
          </p:nvPr>
        </p:nvSpPr>
        <p:spPr/>
        <p:txBody>
          <a:bodyPr/>
          <a:lstStyle/>
          <a:p>
            <a:r>
              <a:rPr lang="en-US" dirty="0"/>
              <a:t>Financial institutions often classify customers into segments:</a:t>
            </a:r>
          </a:p>
          <a:p>
            <a:r>
              <a:rPr lang="en-US" dirty="0"/>
              <a:t>Premium customers</a:t>
            </a:r>
          </a:p>
          <a:p>
            <a:r>
              <a:rPr lang="en-US" dirty="0"/>
              <a:t>High-value customers</a:t>
            </a:r>
          </a:p>
          <a:p>
            <a:r>
              <a:rPr lang="en-US" dirty="0"/>
              <a:t>Standard customers</a:t>
            </a:r>
          </a:p>
          <a:p>
            <a:r>
              <a:rPr lang="en-US" dirty="0"/>
              <a:t>Low engagement customers</a:t>
            </a:r>
          </a:p>
          <a:p>
            <a:endParaRPr lang="en-IN" dirty="0"/>
          </a:p>
        </p:txBody>
      </p:sp>
    </p:spTree>
    <p:extLst>
      <p:ext uri="{BB962C8B-B14F-4D97-AF65-F5344CB8AC3E}">
        <p14:creationId xmlns:p14="http://schemas.microsoft.com/office/powerpoint/2010/main" val="28329348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8FBC9-0540-F61D-5D52-2F0216A6EF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83E416-DA62-5E05-355E-826FCA17C198}"/>
              </a:ext>
            </a:extLst>
          </p:cNvPr>
          <p:cNvSpPr>
            <a:spLocks noGrp="1"/>
          </p:cNvSpPr>
          <p:nvPr>
            <p:ph idx="1"/>
          </p:nvPr>
        </p:nvSpPr>
        <p:spPr/>
        <p:txBody>
          <a:bodyPr/>
          <a:lstStyle/>
          <a:p>
            <a:r>
              <a:rPr lang="en-US" dirty="0"/>
              <a:t>AI analyzes:</a:t>
            </a:r>
          </a:p>
          <a:p>
            <a:r>
              <a:rPr lang="en-US" dirty="0"/>
              <a:t>account balance</a:t>
            </a:r>
          </a:p>
          <a:p>
            <a:r>
              <a:rPr lang="en-US" dirty="0"/>
              <a:t>transaction frequency</a:t>
            </a:r>
          </a:p>
          <a:p>
            <a:r>
              <a:rPr lang="en-US" dirty="0"/>
              <a:t>product usage</a:t>
            </a:r>
          </a:p>
          <a:p>
            <a:r>
              <a:rPr lang="en-US" dirty="0"/>
              <a:t>spending behavior</a:t>
            </a:r>
          </a:p>
          <a:p>
            <a:r>
              <a:rPr lang="en-US" dirty="0"/>
              <a:t>Example result:</a:t>
            </a:r>
          </a:p>
          <a:p>
            <a:r>
              <a:rPr lang="en-US" dirty="0"/>
              <a:t>Customer Segment:</a:t>
            </a:r>
            <a:br>
              <a:rPr lang="en-US" dirty="0"/>
            </a:br>
            <a:r>
              <a:rPr lang="en-US" dirty="0"/>
              <a:t>High-value frequent traveler</a:t>
            </a:r>
          </a:p>
          <a:p>
            <a:endParaRPr lang="en-IN" dirty="0"/>
          </a:p>
        </p:txBody>
      </p:sp>
    </p:spTree>
    <p:extLst>
      <p:ext uri="{BB962C8B-B14F-4D97-AF65-F5344CB8AC3E}">
        <p14:creationId xmlns:p14="http://schemas.microsoft.com/office/powerpoint/2010/main" val="8187180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3271F-F648-C9B0-2CFA-3E95A89FD9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78784B-3C4D-B526-94DB-08EF01E8F36C}"/>
              </a:ext>
            </a:extLst>
          </p:cNvPr>
          <p:cNvSpPr>
            <a:spLocks noGrp="1"/>
          </p:cNvSpPr>
          <p:nvPr>
            <p:ph idx="1"/>
          </p:nvPr>
        </p:nvSpPr>
        <p:spPr/>
        <p:txBody>
          <a:bodyPr/>
          <a:lstStyle/>
          <a:p>
            <a:r>
              <a:rPr lang="en-US" dirty="0"/>
              <a:t>The bank may offer:</a:t>
            </a:r>
          </a:p>
          <a:p>
            <a:r>
              <a:rPr lang="en-US" dirty="0"/>
              <a:t>premium travel cards</a:t>
            </a:r>
          </a:p>
          <a:p>
            <a:r>
              <a:rPr lang="en-US" dirty="0"/>
              <a:t>airport lounge benefits</a:t>
            </a:r>
          </a:p>
          <a:p>
            <a:r>
              <a:rPr lang="en-US" dirty="0"/>
              <a:t>higher credit limits</a:t>
            </a:r>
          </a:p>
          <a:p>
            <a:endParaRPr lang="en-IN" dirty="0"/>
          </a:p>
        </p:txBody>
      </p:sp>
    </p:spTree>
    <p:extLst>
      <p:ext uri="{BB962C8B-B14F-4D97-AF65-F5344CB8AC3E}">
        <p14:creationId xmlns:p14="http://schemas.microsoft.com/office/powerpoint/2010/main" val="7757838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E382B-1713-CD8B-DFCE-988593F49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72EF5-F2CD-3CC7-23F2-E653A56BA21E}"/>
              </a:ext>
            </a:extLst>
          </p:cNvPr>
          <p:cNvSpPr>
            <a:spLocks noGrp="1"/>
          </p:cNvSpPr>
          <p:nvPr>
            <p:ph type="title"/>
          </p:nvPr>
        </p:nvSpPr>
        <p:spPr/>
        <p:txBody>
          <a:bodyPr/>
          <a:lstStyle/>
          <a:p>
            <a:pPr algn="ctr"/>
            <a:r>
              <a:rPr lang="en-US" b="1" dirty="0"/>
              <a:t>Examples from Finance Functions</a:t>
            </a:r>
            <a:br>
              <a:rPr lang="en-US" b="1" dirty="0"/>
            </a:br>
            <a:endParaRPr lang="en-IN" dirty="0"/>
          </a:p>
        </p:txBody>
      </p:sp>
      <p:sp>
        <p:nvSpPr>
          <p:cNvPr id="3" name="Content Placeholder 2">
            <a:extLst>
              <a:ext uri="{FF2B5EF4-FFF2-40B4-BE49-F238E27FC236}">
                <a16:creationId xmlns:a16="http://schemas.microsoft.com/office/drawing/2014/main" id="{BE5E6264-5579-5F0A-4A30-A532473DB3AA}"/>
              </a:ext>
            </a:extLst>
          </p:cNvPr>
          <p:cNvSpPr>
            <a:spLocks noGrp="1"/>
          </p:cNvSpPr>
          <p:nvPr>
            <p:ph idx="1"/>
          </p:nvPr>
        </p:nvSpPr>
        <p:spPr/>
        <p:txBody>
          <a:bodyPr/>
          <a:lstStyle/>
          <a:p>
            <a:r>
              <a:rPr lang="en-US" b="1" dirty="0"/>
              <a:t>Lending</a:t>
            </a:r>
          </a:p>
          <a:p>
            <a:r>
              <a:rPr lang="en-US" dirty="0"/>
              <a:t>AI helps improve lending decisions.</a:t>
            </a:r>
          </a:p>
          <a:p>
            <a:r>
              <a:rPr lang="en-US" dirty="0"/>
              <a:t>Applications:</a:t>
            </a:r>
          </a:p>
          <a:p>
            <a:r>
              <a:rPr lang="en-US" dirty="0"/>
              <a:t>credit risk prediction</a:t>
            </a:r>
          </a:p>
          <a:p>
            <a:r>
              <a:rPr lang="en-US" dirty="0"/>
              <a:t>loan approval scoring</a:t>
            </a:r>
          </a:p>
          <a:p>
            <a:r>
              <a:rPr lang="en-US" dirty="0"/>
              <a:t>default probability estimation</a:t>
            </a:r>
          </a:p>
          <a:p>
            <a:r>
              <a:rPr lang="en-US" dirty="0"/>
              <a:t>Example:</a:t>
            </a:r>
          </a:p>
          <a:p>
            <a:r>
              <a:rPr lang="en-US" dirty="0"/>
              <a:t>AI predicts </a:t>
            </a:r>
            <a:r>
              <a:rPr lang="en-US" b="1" dirty="0"/>
              <a:t>which borrowers are most likely to repay loans</a:t>
            </a:r>
            <a:r>
              <a:rPr lang="en-US" dirty="0"/>
              <a:t>.</a:t>
            </a:r>
          </a:p>
          <a:p>
            <a:endParaRPr lang="en-IN" dirty="0"/>
          </a:p>
        </p:txBody>
      </p:sp>
    </p:spTree>
    <p:extLst>
      <p:ext uri="{BB962C8B-B14F-4D97-AF65-F5344CB8AC3E}">
        <p14:creationId xmlns:p14="http://schemas.microsoft.com/office/powerpoint/2010/main" val="24220083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75E57-8FE6-9C0D-F538-863BC5CB8E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3F251-00ED-0B22-C330-BD66EB026131}"/>
              </a:ext>
            </a:extLst>
          </p:cNvPr>
          <p:cNvSpPr>
            <a:spLocks noGrp="1"/>
          </p:cNvSpPr>
          <p:nvPr>
            <p:ph idx="1"/>
          </p:nvPr>
        </p:nvSpPr>
        <p:spPr/>
        <p:txBody>
          <a:bodyPr/>
          <a:lstStyle/>
          <a:p>
            <a:r>
              <a:rPr lang="en-US" dirty="0"/>
              <a:t>Benefits:</a:t>
            </a:r>
          </a:p>
          <a:p>
            <a:r>
              <a:rPr lang="en-US" dirty="0"/>
              <a:t>fewer bad loans</a:t>
            </a:r>
          </a:p>
          <a:p>
            <a:r>
              <a:rPr lang="en-US" dirty="0"/>
              <a:t>faster loan approvals</a:t>
            </a:r>
          </a:p>
          <a:p>
            <a:r>
              <a:rPr lang="en-US" dirty="0"/>
              <a:t>better risk management</a:t>
            </a:r>
          </a:p>
          <a:p>
            <a:endParaRPr lang="en-IN" dirty="0"/>
          </a:p>
        </p:txBody>
      </p:sp>
    </p:spTree>
    <p:extLst>
      <p:ext uri="{BB962C8B-B14F-4D97-AF65-F5344CB8AC3E}">
        <p14:creationId xmlns:p14="http://schemas.microsoft.com/office/powerpoint/2010/main" val="12757399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4B171-8630-3CC6-B134-299945CAA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2DCF8-90FF-B845-5985-19607937426E}"/>
              </a:ext>
            </a:extLst>
          </p:cNvPr>
          <p:cNvSpPr>
            <a:spLocks noGrp="1"/>
          </p:cNvSpPr>
          <p:nvPr>
            <p:ph type="title"/>
          </p:nvPr>
        </p:nvSpPr>
        <p:spPr/>
        <p:txBody>
          <a:bodyPr/>
          <a:lstStyle/>
          <a:p>
            <a:pPr algn="ctr"/>
            <a:r>
              <a:rPr lang="en-US" b="1" dirty="0"/>
              <a:t>Payments</a:t>
            </a:r>
            <a:br>
              <a:rPr lang="en-US" b="1" dirty="0"/>
            </a:br>
            <a:endParaRPr lang="en-IN" dirty="0"/>
          </a:p>
        </p:txBody>
      </p:sp>
      <p:sp>
        <p:nvSpPr>
          <p:cNvPr id="3" name="Content Placeholder 2">
            <a:extLst>
              <a:ext uri="{FF2B5EF4-FFF2-40B4-BE49-F238E27FC236}">
                <a16:creationId xmlns:a16="http://schemas.microsoft.com/office/drawing/2014/main" id="{CE41CDFE-EF25-75DA-7936-97ED730FEB30}"/>
              </a:ext>
            </a:extLst>
          </p:cNvPr>
          <p:cNvSpPr>
            <a:spLocks noGrp="1"/>
          </p:cNvSpPr>
          <p:nvPr>
            <p:ph idx="1"/>
          </p:nvPr>
        </p:nvSpPr>
        <p:spPr/>
        <p:txBody>
          <a:bodyPr>
            <a:normAutofit/>
          </a:bodyPr>
          <a:lstStyle/>
          <a:p>
            <a:r>
              <a:rPr lang="en-US" dirty="0"/>
              <a:t>Payment systems process millions of transactions daily.</a:t>
            </a:r>
          </a:p>
          <a:p>
            <a:r>
              <a:rPr lang="en-US" dirty="0"/>
              <a:t>AI helps in:</a:t>
            </a:r>
          </a:p>
          <a:p>
            <a:r>
              <a:rPr lang="en-US" dirty="0"/>
              <a:t>fraud detection</a:t>
            </a:r>
          </a:p>
          <a:p>
            <a:r>
              <a:rPr lang="en-US" dirty="0"/>
              <a:t>transaction anomaly detection</a:t>
            </a:r>
          </a:p>
          <a:p>
            <a:r>
              <a:rPr lang="en-US" dirty="0"/>
              <a:t>payment risk scoring</a:t>
            </a:r>
          </a:p>
          <a:p>
            <a:r>
              <a:rPr lang="en-US" dirty="0"/>
              <a:t>Example:</a:t>
            </a:r>
          </a:p>
          <a:p>
            <a:r>
              <a:rPr lang="en-US" dirty="0"/>
              <a:t>AI identifies unusual spending patterns and flags fraudulent transactions in real time</a:t>
            </a:r>
          </a:p>
          <a:p>
            <a:endParaRPr lang="en-IN" dirty="0"/>
          </a:p>
        </p:txBody>
      </p:sp>
    </p:spTree>
    <p:extLst>
      <p:ext uri="{BB962C8B-B14F-4D97-AF65-F5344CB8AC3E}">
        <p14:creationId xmlns:p14="http://schemas.microsoft.com/office/powerpoint/2010/main" val="18259156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2BE6B-4809-CC88-9CF0-677D7FAD2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68E60-4239-108C-B7A9-C0B12B97790C}"/>
              </a:ext>
            </a:extLst>
          </p:cNvPr>
          <p:cNvSpPr>
            <a:spLocks noGrp="1"/>
          </p:cNvSpPr>
          <p:nvPr>
            <p:ph type="title"/>
          </p:nvPr>
        </p:nvSpPr>
        <p:spPr/>
        <p:txBody>
          <a:bodyPr/>
          <a:lstStyle/>
          <a:p>
            <a:pPr algn="ctr"/>
            <a:r>
              <a:rPr lang="en-US" b="1" dirty="0"/>
              <a:t>Reconciliation</a:t>
            </a:r>
            <a:br>
              <a:rPr lang="en-US" b="1" dirty="0"/>
            </a:br>
            <a:endParaRPr lang="en-IN" dirty="0"/>
          </a:p>
        </p:txBody>
      </p:sp>
      <p:sp>
        <p:nvSpPr>
          <p:cNvPr id="3" name="Content Placeholder 2">
            <a:extLst>
              <a:ext uri="{FF2B5EF4-FFF2-40B4-BE49-F238E27FC236}">
                <a16:creationId xmlns:a16="http://schemas.microsoft.com/office/drawing/2014/main" id="{380CF737-1F8A-1A32-F178-8F62E6CAB8CA}"/>
              </a:ext>
            </a:extLst>
          </p:cNvPr>
          <p:cNvSpPr>
            <a:spLocks noGrp="1"/>
          </p:cNvSpPr>
          <p:nvPr>
            <p:ph idx="1"/>
          </p:nvPr>
        </p:nvSpPr>
        <p:spPr>
          <a:xfrm>
            <a:off x="619539" y="1875321"/>
            <a:ext cx="10515600" cy="4351338"/>
          </a:xfrm>
        </p:spPr>
        <p:txBody>
          <a:bodyPr>
            <a:normAutofit/>
          </a:bodyPr>
          <a:lstStyle/>
          <a:p>
            <a:r>
              <a:rPr lang="en-US" dirty="0"/>
              <a:t>Finance teams spend significant time reconciling:</a:t>
            </a:r>
          </a:p>
          <a:p>
            <a:r>
              <a:rPr lang="en-US" dirty="0"/>
              <a:t>bank statements</a:t>
            </a:r>
          </a:p>
          <a:p>
            <a:r>
              <a:rPr lang="en-US" dirty="0"/>
              <a:t>invoices</a:t>
            </a:r>
          </a:p>
          <a:p>
            <a:r>
              <a:rPr lang="en-US" dirty="0"/>
              <a:t>payments</a:t>
            </a:r>
          </a:p>
          <a:p>
            <a:r>
              <a:rPr lang="en-US" dirty="0"/>
              <a:t>AI can automatically match transactions using pattern recognition.</a:t>
            </a:r>
          </a:p>
          <a:p>
            <a:endParaRPr lang="en-IN" dirty="0"/>
          </a:p>
        </p:txBody>
      </p:sp>
    </p:spTree>
    <p:extLst>
      <p:ext uri="{BB962C8B-B14F-4D97-AF65-F5344CB8AC3E}">
        <p14:creationId xmlns:p14="http://schemas.microsoft.com/office/powerpoint/2010/main" val="32213203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8A3B8-0EE3-DBDA-880E-45CF08AA1F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02A118-7FE7-1FB0-5097-E2684430F387}"/>
              </a:ext>
            </a:extLst>
          </p:cNvPr>
          <p:cNvSpPr>
            <a:spLocks noGrp="1"/>
          </p:cNvSpPr>
          <p:nvPr>
            <p:ph idx="1"/>
          </p:nvPr>
        </p:nvSpPr>
        <p:spPr/>
        <p:txBody>
          <a:bodyPr/>
          <a:lstStyle/>
          <a:p>
            <a:r>
              <a:rPr lang="en-US" dirty="0"/>
              <a:t>Example:</a:t>
            </a:r>
          </a:p>
          <a:p>
            <a:r>
              <a:rPr lang="en-US" dirty="0"/>
              <a:t>AI matches:</a:t>
            </a:r>
          </a:p>
          <a:p>
            <a:r>
              <a:rPr lang="en-US" dirty="0"/>
              <a:t>Invoice amount: ₹48,950</a:t>
            </a:r>
            <a:br>
              <a:rPr lang="en-US" dirty="0"/>
            </a:br>
            <a:r>
              <a:rPr lang="en-US" dirty="0"/>
              <a:t>Bank transfer: ₹48,948</a:t>
            </a:r>
          </a:p>
          <a:p>
            <a:r>
              <a:rPr lang="en-US" dirty="0"/>
              <a:t>Even if amounts are slightly different, AI identifies likely matches.</a:t>
            </a:r>
          </a:p>
          <a:p>
            <a:r>
              <a:rPr lang="en-US" dirty="0"/>
              <a:t>This reduces manual reconciliation work.</a:t>
            </a:r>
          </a:p>
          <a:p>
            <a:endParaRPr lang="en-IN" dirty="0"/>
          </a:p>
        </p:txBody>
      </p:sp>
    </p:spTree>
    <p:extLst>
      <p:ext uri="{BB962C8B-B14F-4D97-AF65-F5344CB8AC3E}">
        <p14:creationId xmlns:p14="http://schemas.microsoft.com/office/powerpoint/2010/main" val="23738625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A9AAE-7EA7-C765-3D43-D7D81AEB5E75}"/>
              </a:ext>
            </a:extLst>
          </p:cNvPr>
          <p:cNvSpPr>
            <a:spLocks noGrp="1"/>
          </p:cNvSpPr>
          <p:nvPr>
            <p:ph type="title"/>
          </p:nvPr>
        </p:nvSpPr>
        <p:spPr/>
        <p:txBody>
          <a:bodyPr/>
          <a:lstStyle/>
          <a:p>
            <a:pPr algn="ctr"/>
            <a:r>
              <a:rPr lang="en-IN" b="1" dirty="0"/>
              <a:t>Risk Management</a:t>
            </a:r>
            <a:br>
              <a:rPr lang="en-IN" b="1" dirty="0"/>
            </a:br>
            <a:endParaRPr lang="en-IN" dirty="0"/>
          </a:p>
        </p:txBody>
      </p:sp>
      <p:sp>
        <p:nvSpPr>
          <p:cNvPr id="3" name="Content Placeholder 2">
            <a:extLst>
              <a:ext uri="{FF2B5EF4-FFF2-40B4-BE49-F238E27FC236}">
                <a16:creationId xmlns:a16="http://schemas.microsoft.com/office/drawing/2014/main" id="{B2F1E7CB-BB91-64F5-AF4F-3A2E1FF64C99}"/>
              </a:ext>
            </a:extLst>
          </p:cNvPr>
          <p:cNvSpPr>
            <a:spLocks noGrp="1"/>
          </p:cNvSpPr>
          <p:nvPr>
            <p:ph idx="1"/>
          </p:nvPr>
        </p:nvSpPr>
        <p:spPr/>
        <p:txBody>
          <a:bodyPr>
            <a:normAutofit/>
          </a:bodyPr>
          <a:lstStyle/>
          <a:p>
            <a:r>
              <a:rPr lang="en-IN" dirty="0"/>
              <a:t>AI helps organizations monitor financial risks continuously.</a:t>
            </a:r>
          </a:p>
          <a:p>
            <a:r>
              <a:rPr lang="en-IN" dirty="0"/>
              <a:t>Applications:</a:t>
            </a:r>
          </a:p>
          <a:p>
            <a:r>
              <a:rPr lang="en-IN" dirty="0"/>
              <a:t>portfolio risk analysis</a:t>
            </a:r>
          </a:p>
          <a:p>
            <a:r>
              <a:rPr lang="en-IN" dirty="0"/>
              <a:t>liquidity risk prediction</a:t>
            </a:r>
          </a:p>
          <a:p>
            <a:r>
              <a:rPr lang="en-IN" dirty="0"/>
              <a:t>market volatility detection</a:t>
            </a:r>
          </a:p>
          <a:p>
            <a:r>
              <a:rPr lang="en-IN" dirty="0"/>
              <a:t>Example:</a:t>
            </a:r>
          </a:p>
          <a:p>
            <a:r>
              <a:rPr lang="en-IN" dirty="0"/>
              <a:t>AI predicts that </a:t>
            </a:r>
            <a:r>
              <a:rPr lang="en-IN" b="1" dirty="0"/>
              <a:t>certain loans in a portfolio have rising risk levels</a:t>
            </a:r>
            <a:r>
              <a:rPr lang="en-IN" dirty="0"/>
              <a:t>, allowing risk teams to intervene early.</a:t>
            </a:r>
          </a:p>
          <a:p>
            <a:endParaRPr lang="en-IN" dirty="0"/>
          </a:p>
        </p:txBody>
      </p:sp>
    </p:spTree>
    <p:extLst>
      <p:ext uri="{BB962C8B-B14F-4D97-AF65-F5344CB8AC3E}">
        <p14:creationId xmlns:p14="http://schemas.microsoft.com/office/powerpoint/2010/main" val="2960939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BAEA7-3713-D2A7-CF58-E83F61A5F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24BEA-4E24-9CD1-6F79-13D4A61A195D}"/>
              </a:ext>
            </a:extLst>
          </p:cNvPr>
          <p:cNvSpPr>
            <a:spLocks noGrp="1"/>
          </p:cNvSpPr>
          <p:nvPr>
            <p:ph type="title"/>
          </p:nvPr>
        </p:nvSpPr>
        <p:spPr/>
        <p:txBody>
          <a:bodyPr/>
          <a:lstStyle/>
          <a:p>
            <a:pPr algn="ctr"/>
            <a:r>
              <a:rPr lang="en-IN" b="1" dirty="0"/>
              <a:t>As an AIPM</a:t>
            </a:r>
          </a:p>
        </p:txBody>
      </p:sp>
      <p:sp>
        <p:nvSpPr>
          <p:cNvPr id="3" name="Content Placeholder 2">
            <a:extLst>
              <a:ext uri="{FF2B5EF4-FFF2-40B4-BE49-F238E27FC236}">
                <a16:creationId xmlns:a16="http://schemas.microsoft.com/office/drawing/2014/main" id="{879BAF4C-FD75-ABA7-45E2-57FF9FDE3EE2}"/>
              </a:ext>
            </a:extLst>
          </p:cNvPr>
          <p:cNvSpPr>
            <a:spLocks noGrp="1"/>
          </p:cNvSpPr>
          <p:nvPr>
            <p:ph idx="1"/>
          </p:nvPr>
        </p:nvSpPr>
        <p:spPr/>
        <p:txBody>
          <a:bodyPr/>
          <a:lstStyle/>
          <a:p>
            <a:r>
              <a:rPr lang="en-US" dirty="0"/>
              <a:t>For finance professionals, the key is not learning algorithms, but understanding:</a:t>
            </a:r>
          </a:p>
          <a:p>
            <a:r>
              <a:rPr lang="en-US" dirty="0"/>
              <a:t>✔ What problem AI is solving</a:t>
            </a:r>
            <a:br>
              <a:rPr lang="en-US" dirty="0"/>
            </a:br>
            <a:r>
              <a:rPr lang="en-US" dirty="0"/>
              <a:t>✔ What data is required</a:t>
            </a:r>
            <a:br>
              <a:rPr lang="en-US" dirty="0"/>
            </a:br>
            <a:r>
              <a:rPr lang="en-US" dirty="0"/>
              <a:t>✔ What decision the prediction supports</a:t>
            </a:r>
          </a:p>
          <a:p>
            <a:endParaRPr lang="en-IN" dirty="0"/>
          </a:p>
        </p:txBody>
      </p:sp>
    </p:spTree>
    <p:extLst>
      <p:ext uri="{BB962C8B-B14F-4D97-AF65-F5344CB8AC3E}">
        <p14:creationId xmlns:p14="http://schemas.microsoft.com/office/powerpoint/2010/main" val="358922481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B5727-F3E4-88D3-F989-369FAF91C4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09009-0146-8CE2-9E67-7993FCDCF699}"/>
              </a:ext>
            </a:extLst>
          </p:cNvPr>
          <p:cNvSpPr>
            <a:spLocks noGrp="1"/>
          </p:cNvSpPr>
          <p:nvPr>
            <p:ph type="title"/>
          </p:nvPr>
        </p:nvSpPr>
        <p:spPr/>
        <p:txBody>
          <a:bodyPr/>
          <a:lstStyle/>
          <a:p>
            <a:pPr algn="ctr"/>
            <a:r>
              <a:rPr lang="en-US" b="1" dirty="0"/>
              <a:t>Working with Data as a Product Manager</a:t>
            </a:r>
            <a:endParaRPr lang="en-IN" b="1" dirty="0"/>
          </a:p>
        </p:txBody>
      </p:sp>
      <p:sp>
        <p:nvSpPr>
          <p:cNvPr id="3" name="Content Placeholder 2">
            <a:extLst>
              <a:ext uri="{FF2B5EF4-FFF2-40B4-BE49-F238E27FC236}">
                <a16:creationId xmlns:a16="http://schemas.microsoft.com/office/drawing/2014/main" id="{1DB5566F-F8B5-7150-098E-7D6ECBAD76D0}"/>
              </a:ext>
            </a:extLst>
          </p:cNvPr>
          <p:cNvSpPr>
            <a:spLocks noGrp="1"/>
          </p:cNvSpPr>
          <p:nvPr>
            <p:ph idx="1"/>
          </p:nvPr>
        </p:nvSpPr>
        <p:spPr/>
        <p:txBody>
          <a:bodyPr>
            <a:normAutofit fontScale="92500" lnSpcReduction="20000"/>
          </a:bodyPr>
          <a:lstStyle/>
          <a:p>
            <a:pPr>
              <a:lnSpc>
                <a:spcPct val="150000"/>
              </a:lnSpc>
            </a:pPr>
            <a:r>
              <a:rPr lang="en-US" dirty="0"/>
              <a:t>AI systems are only as good as the data they learn from.</a:t>
            </a:r>
            <a:br>
              <a:rPr lang="en-US" dirty="0"/>
            </a:br>
            <a:r>
              <a:rPr lang="en-US" dirty="0"/>
              <a:t>For Product Managers, understanding whether the available data is useful and reliable is extremely important before building AI-powered financial features.</a:t>
            </a:r>
          </a:p>
          <a:p>
            <a:pPr>
              <a:lnSpc>
                <a:spcPct val="150000"/>
              </a:lnSpc>
            </a:pPr>
            <a:r>
              <a:rPr lang="en-US" dirty="0"/>
              <a:t>A common mistake in AI projects is:</a:t>
            </a:r>
          </a:p>
          <a:p>
            <a:pPr>
              <a:lnSpc>
                <a:spcPct val="150000"/>
              </a:lnSpc>
            </a:pPr>
            <a:r>
              <a:rPr lang="en-US" dirty="0"/>
              <a:t>Building models first and checking data later.</a:t>
            </a:r>
          </a:p>
          <a:p>
            <a:pPr>
              <a:lnSpc>
                <a:spcPct val="150000"/>
              </a:lnSpc>
            </a:pPr>
            <a:r>
              <a:rPr lang="en-US" dirty="0"/>
              <a:t>Successful AI products start with good data evaluation.</a:t>
            </a:r>
          </a:p>
          <a:p>
            <a:pPr>
              <a:lnSpc>
                <a:spcPct val="150000"/>
              </a:lnSpc>
            </a:pPr>
            <a:endParaRPr lang="en-IN" dirty="0"/>
          </a:p>
        </p:txBody>
      </p:sp>
    </p:spTree>
    <p:extLst>
      <p:ext uri="{BB962C8B-B14F-4D97-AF65-F5344CB8AC3E}">
        <p14:creationId xmlns:p14="http://schemas.microsoft.com/office/powerpoint/2010/main" val="33007937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EF638-3CF0-5DA3-A46B-A73BEAB4A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588D2-1D6F-1072-E9FE-56F58CFC145C}"/>
              </a:ext>
            </a:extLst>
          </p:cNvPr>
          <p:cNvSpPr>
            <a:spLocks noGrp="1"/>
          </p:cNvSpPr>
          <p:nvPr>
            <p:ph type="title"/>
          </p:nvPr>
        </p:nvSpPr>
        <p:spPr/>
        <p:txBody>
          <a:bodyPr/>
          <a:lstStyle/>
          <a:p>
            <a:pPr algn="ctr"/>
            <a:r>
              <a:rPr lang="en-US" b="1" dirty="0"/>
              <a:t>What “Useful Data” Means in Finance</a:t>
            </a:r>
            <a:endParaRPr lang="en-IN" b="1" dirty="0"/>
          </a:p>
        </p:txBody>
      </p:sp>
      <p:sp>
        <p:nvSpPr>
          <p:cNvPr id="3" name="Content Placeholder 2">
            <a:extLst>
              <a:ext uri="{FF2B5EF4-FFF2-40B4-BE49-F238E27FC236}">
                <a16:creationId xmlns:a16="http://schemas.microsoft.com/office/drawing/2014/main" id="{0695ACF5-4FFD-2C4F-B8D4-323EBEF72D41}"/>
              </a:ext>
            </a:extLst>
          </p:cNvPr>
          <p:cNvSpPr>
            <a:spLocks noGrp="1"/>
          </p:cNvSpPr>
          <p:nvPr>
            <p:ph idx="1"/>
          </p:nvPr>
        </p:nvSpPr>
        <p:spPr/>
        <p:txBody>
          <a:bodyPr/>
          <a:lstStyle/>
          <a:p>
            <a:r>
              <a:rPr lang="en-US" dirty="0"/>
              <a:t>Not all financial data is useful for AI.</a:t>
            </a:r>
          </a:p>
          <a:p>
            <a:r>
              <a:rPr lang="en-US" dirty="0"/>
              <a:t>Useful data has three important characteristics:</a:t>
            </a:r>
          </a:p>
          <a:p>
            <a:r>
              <a:rPr lang="en-US" dirty="0"/>
              <a:t>Relevant</a:t>
            </a:r>
          </a:p>
          <a:p>
            <a:r>
              <a:rPr lang="en-US" dirty="0"/>
              <a:t>Accurate</a:t>
            </a:r>
          </a:p>
          <a:p>
            <a:r>
              <a:rPr lang="en-US" dirty="0"/>
              <a:t>Sufficient in quantity</a:t>
            </a:r>
          </a:p>
          <a:p>
            <a:r>
              <a:rPr lang="en-US" dirty="0"/>
              <a:t>Let’s understand each one.</a:t>
            </a:r>
          </a:p>
          <a:p>
            <a:endParaRPr lang="en-IN" dirty="0"/>
          </a:p>
        </p:txBody>
      </p:sp>
    </p:spTree>
    <p:extLst>
      <p:ext uri="{BB962C8B-B14F-4D97-AF65-F5344CB8AC3E}">
        <p14:creationId xmlns:p14="http://schemas.microsoft.com/office/powerpoint/2010/main" val="6631304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E686A-9D47-386D-7D54-945054DD5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23B47-ABAF-FE65-D7B7-69B33510F2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324119A-54DE-ECA6-FDAB-0B4AD6481DAF}"/>
              </a:ext>
            </a:extLst>
          </p:cNvPr>
          <p:cNvSpPr>
            <a:spLocks noGrp="1"/>
          </p:cNvSpPr>
          <p:nvPr>
            <p:ph idx="1"/>
          </p:nvPr>
        </p:nvSpPr>
        <p:spPr/>
        <p:txBody>
          <a:bodyPr>
            <a:normAutofit fontScale="92500" lnSpcReduction="10000"/>
          </a:bodyPr>
          <a:lstStyle/>
          <a:p>
            <a:r>
              <a:rPr lang="en-US" b="1" dirty="0"/>
              <a:t>Relevant Data</a:t>
            </a:r>
          </a:p>
          <a:p>
            <a:r>
              <a:rPr lang="en-US" dirty="0"/>
              <a:t>Relevant data means the data </a:t>
            </a:r>
            <a:r>
              <a:rPr lang="en-US" b="1" dirty="0"/>
              <a:t>actually helps answer the business problem</a:t>
            </a:r>
            <a:r>
              <a:rPr lang="en-US" dirty="0"/>
              <a:t>.</a:t>
            </a:r>
          </a:p>
          <a:p>
            <a:r>
              <a:rPr lang="en-US" dirty="0"/>
              <a:t>Example:</a:t>
            </a:r>
          </a:p>
          <a:p>
            <a:r>
              <a:rPr lang="en-US" dirty="0"/>
              <a:t>If the goal is </a:t>
            </a:r>
            <a:r>
              <a:rPr lang="en-US" b="1" dirty="0"/>
              <a:t>predicting loan default</a:t>
            </a:r>
            <a:r>
              <a:rPr lang="en-US" dirty="0"/>
              <a:t>, useful data may include:</a:t>
            </a:r>
          </a:p>
          <a:p>
            <a:r>
              <a:rPr lang="en-US" dirty="0"/>
              <a:t>repayment history</a:t>
            </a:r>
          </a:p>
          <a:p>
            <a:r>
              <a:rPr lang="en-US" dirty="0"/>
              <a:t>credit utilization</a:t>
            </a:r>
          </a:p>
          <a:p>
            <a:r>
              <a:rPr lang="en-US" dirty="0"/>
              <a:t>income stability</a:t>
            </a:r>
          </a:p>
          <a:p>
            <a:r>
              <a:rPr lang="en-US" dirty="0"/>
              <a:t>outstanding debts</a:t>
            </a:r>
          </a:p>
          <a:p>
            <a:r>
              <a:rPr lang="en-US" dirty="0"/>
              <a:t>previous defaults</a:t>
            </a:r>
          </a:p>
          <a:p>
            <a:endParaRPr lang="en-IN" dirty="0"/>
          </a:p>
        </p:txBody>
      </p:sp>
    </p:spTree>
    <p:extLst>
      <p:ext uri="{BB962C8B-B14F-4D97-AF65-F5344CB8AC3E}">
        <p14:creationId xmlns:p14="http://schemas.microsoft.com/office/powerpoint/2010/main" val="112826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BF476-6AA3-1CE4-7E76-A9F3EE157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042889-5FC2-CF76-43B2-62C5397C711E}"/>
              </a:ext>
            </a:extLst>
          </p:cNvPr>
          <p:cNvSpPr>
            <a:spLocks noGrp="1"/>
          </p:cNvSpPr>
          <p:nvPr>
            <p:ph type="title"/>
          </p:nvPr>
        </p:nvSpPr>
        <p:spPr/>
        <p:txBody>
          <a:bodyPr/>
          <a:lstStyle/>
          <a:p>
            <a:pPr algn="ctr"/>
            <a:r>
              <a:rPr lang="en-IN" b="1" dirty="0"/>
              <a:t>Relevant Data</a:t>
            </a:r>
          </a:p>
        </p:txBody>
      </p:sp>
      <p:sp>
        <p:nvSpPr>
          <p:cNvPr id="3" name="Content Placeholder 2">
            <a:extLst>
              <a:ext uri="{FF2B5EF4-FFF2-40B4-BE49-F238E27FC236}">
                <a16:creationId xmlns:a16="http://schemas.microsoft.com/office/drawing/2014/main" id="{54AC3F36-318E-CEDA-9B74-1402639E1C02}"/>
              </a:ext>
            </a:extLst>
          </p:cNvPr>
          <p:cNvSpPr>
            <a:spLocks noGrp="1"/>
          </p:cNvSpPr>
          <p:nvPr>
            <p:ph idx="1"/>
          </p:nvPr>
        </p:nvSpPr>
        <p:spPr/>
        <p:txBody>
          <a:bodyPr/>
          <a:lstStyle/>
          <a:p>
            <a:r>
              <a:rPr lang="en-US" dirty="0"/>
              <a:t>But data like:</a:t>
            </a:r>
          </a:p>
          <a:p>
            <a:r>
              <a:rPr lang="en-US" dirty="0"/>
              <a:t>customer favorite shopping category</a:t>
            </a:r>
          </a:p>
          <a:p>
            <a:r>
              <a:rPr lang="en-US" dirty="0"/>
              <a:t>preferred language</a:t>
            </a:r>
          </a:p>
          <a:p>
            <a:r>
              <a:rPr lang="en-US" dirty="0"/>
              <a:t>may not be useful for loan risk prediction.</a:t>
            </a:r>
          </a:p>
          <a:p>
            <a:r>
              <a:rPr lang="en-US" dirty="0"/>
              <a:t>So a Product Manager must ask:</a:t>
            </a:r>
          </a:p>
          <a:p>
            <a:r>
              <a:rPr lang="en-US" dirty="0"/>
              <a:t>Does this data help the model understand the financial behaviour related to the problem?</a:t>
            </a:r>
          </a:p>
          <a:p>
            <a:endParaRPr lang="en-IN" dirty="0"/>
          </a:p>
        </p:txBody>
      </p:sp>
    </p:spTree>
    <p:extLst>
      <p:ext uri="{BB962C8B-B14F-4D97-AF65-F5344CB8AC3E}">
        <p14:creationId xmlns:p14="http://schemas.microsoft.com/office/powerpoint/2010/main" val="26991910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4F6A7-7CC2-9F49-F0BC-6DFC0A5E19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E85DF-F25F-8996-90D1-E24C6CF3A569}"/>
              </a:ext>
            </a:extLst>
          </p:cNvPr>
          <p:cNvSpPr>
            <a:spLocks noGrp="1"/>
          </p:cNvSpPr>
          <p:nvPr>
            <p:ph type="title"/>
          </p:nvPr>
        </p:nvSpPr>
        <p:spPr/>
        <p:txBody>
          <a:bodyPr>
            <a:normAutofit fontScale="90000"/>
          </a:bodyPr>
          <a:lstStyle/>
          <a:p>
            <a:r>
              <a:rPr lang="en-US" b="1" dirty="0"/>
              <a:t>                         </a:t>
            </a:r>
            <a:br>
              <a:rPr lang="en-US" b="1" dirty="0"/>
            </a:br>
            <a:r>
              <a:rPr lang="en-US" b="1" dirty="0"/>
              <a:t>Accurate Data</a:t>
            </a:r>
            <a:br>
              <a:rPr lang="en-US" b="1" dirty="0"/>
            </a:br>
            <a:endParaRPr lang="en-IN" dirty="0"/>
          </a:p>
        </p:txBody>
      </p:sp>
      <p:sp>
        <p:nvSpPr>
          <p:cNvPr id="3" name="Content Placeholder 2">
            <a:extLst>
              <a:ext uri="{FF2B5EF4-FFF2-40B4-BE49-F238E27FC236}">
                <a16:creationId xmlns:a16="http://schemas.microsoft.com/office/drawing/2014/main" id="{3A0A379A-56F2-E083-A9B0-9ABB801D10CE}"/>
              </a:ext>
            </a:extLst>
          </p:cNvPr>
          <p:cNvSpPr>
            <a:spLocks noGrp="1"/>
          </p:cNvSpPr>
          <p:nvPr>
            <p:ph idx="1"/>
          </p:nvPr>
        </p:nvSpPr>
        <p:spPr/>
        <p:txBody>
          <a:bodyPr/>
          <a:lstStyle/>
          <a:p>
            <a:r>
              <a:rPr lang="en-US" dirty="0"/>
              <a:t>Financial AI systems require high-quality and accurate data.</a:t>
            </a:r>
          </a:p>
          <a:p>
            <a:r>
              <a:rPr lang="en-US" dirty="0"/>
              <a:t>Examples of bad data:</a:t>
            </a:r>
          </a:p>
          <a:p>
            <a:r>
              <a:rPr lang="en-US" dirty="0"/>
              <a:t>missing repayment records</a:t>
            </a:r>
          </a:p>
          <a:p>
            <a:r>
              <a:rPr lang="en-US" dirty="0"/>
              <a:t>incorrect transaction amounts</a:t>
            </a:r>
          </a:p>
          <a:p>
            <a:r>
              <a:rPr lang="en-US" dirty="0"/>
              <a:t>duplicate customer profiles</a:t>
            </a:r>
          </a:p>
          <a:p>
            <a:r>
              <a:rPr lang="en-US" dirty="0"/>
              <a:t>If the data is incorrect, AI will learn incorrect patterns.</a:t>
            </a:r>
          </a:p>
          <a:p>
            <a:endParaRPr lang="en-IN" dirty="0"/>
          </a:p>
        </p:txBody>
      </p:sp>
    </p:spTree>
    <p:extLst>
      <p:ext uri="{BB962C8B-B14F-4D97-AF65-F5344CB8AC3E}">
        <p14:creationId xmlns:p14="http://schemas.microsoft.com/office/powerpoint/2010/main" val="11070050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52098-B307-8F7D-2B27-C9CC9DD578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F9277-7ADC-4A9F-0651-DA196C04B1F0}"/>
              </a:ext>
            </a:extLst>
          </p:cNvPr>
          <p:cNvSpPr>
            <a:spLocks noGrp="1"/>
          </p:cNvSpPr>
          <p:nvPr>
            <p:ph idx="1"/>
          </p:nvPr>
        </p:nvSpPr>
        <p:spPr/>
        <p:txBody>
          <a:bodyPr/>
          <a:lstStyle/>
          <a:p>
            <a:r>
              <a:rPr lang="en-US" dirty="0"/>
              <a:t>Example:</a:t>
            </a:r>
          </a:p>
          <a:p>
            <a:r>
              <a:rPr lang="en-US" dirty="0"/>
              <a:t>If many borrowers are incorrectly marked as </a:t>
            </a:r>
            <a:r>
              <a:rPr lang="en-US" b="1" dirty="0"/>
              <a:t>“defaulted”</a:t>
            </a:r>
            <a:r>
              <a:rPr lang="en-US" dirty="0"/>
              <a:t>, the model may start rejecting good customers.</a:t>
            </a:r>
          </a:p>
          <a:p>
            <a:r>
              <a:rPr lang="en-US" dirty="0"/>
              <a:t>This leads to:</a:t>
            </a:r>
          </a:p>
          <a:p>
            <a:r>
              <a:rPr lang="en-US" dirty="0"/>
              <a:t>lost revenue</a:t>
            </a:r>
          </a:p>
          <a:p>
            <a:r>
              <a:rPr lang="en-US" dirty="0"/>
              <a:t>poor customer experience</a:t>
            </a:r>
          </a:p>
          <a:p>
            <a:r>
              <a:rPr lang="en-US" dirty="0"/>
              <a:t>unfair decisions</a:t>
            </a:r>
          </a:p>
          <a:p>
            <a:endParaRPr lang="en-IN" dirty="0"/>
          </a:p>
        </p:txBody>
      </p:sp>
    </p:spTree>
    <p:extLst>
      <p:ext uri="{BB962C8B-B14F-4D97-AF65-F5344CB8AC3E}">
        <p14:creationId xmlns:p14="http://schemas.microsoft.com/office/powerpoint/2010/main" val="12600743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BFF16-436A-AE3D-3B25-097D4395A35C}"/>
              </a:ext>
            </a:extLst>
          </p:cNvPr>
          <p:cNvSpPr>
            <a:spLocks noGrp="1"/>
          </p:cNvSpPr>
          <p:nvPr>
            <p:ph type="title"/>
          </p:nvPr>
        </p:nvSpPr>
        <p:spPr/>
        <p:txBody>
          <a:bodyPr>
            <a:normAutofit fontScale="90000"/>
          </a:bodyPr>
          <a:lstStyle/>
          <a:p>
            <a:pPr algn="ctr"/>
            <a:br>
              <a:rPr lang="en-US" b="1" dirty="0"/>
            </a:br>
            <a:r>
              <a:rPr lang="en-US" b="1" dirty="0"/>
              <a:t>Sufficient Data</a:t>
            </a:r>
            <a:br>
              <a:rPr lang="en-US" b="1" dirty="0"/>
            </a:br>
            <a:endParaRPr lang="en-IN" dirty="0"/>
          </a:p>
        </p:txBody>
      </p:sp>
      <p:sp>
        <p:nvSpPr>
          <p:cNvPr id="3" name="Content Placeholder 2">
            <a:extLst>
              <a:ext uri="{FF2B5EF4-FFF2-40B4-BE49-F238E27FC236}">
                <a16:creationId xmlns:a16="http://schemas.microsoft.com/office/drawing/2014/main" id="{FA06BA4A-D06B-7DE4-A1E6-235538B87633}"/>
              </a:ext>
            </a:extLst>
          </p:cNvPr>
          <p:cNvSpPr>
            <a:spLocks noGrp="1"/>
          </p:cNvSpPr>
          <p:nvPr>
            <p:ph idx="1"/>
          </p:nvPr>
        </p:nvSpPr>
        <p:spPr/>
        <p:txBody>
          <a:bodyPr>
            <a:normAutofit/>
          </a:bodyPr>
          <a:lstStyle/>
          <a:p>
            <a:r>
              <a:rPr lang="en-US" dirty="0"/>
              <a:t>AI systems learn patterns from </a:t>
            </a:r>
            <a:r>
              <a:rPr lang="en-US" b="1" dirty="0"/>
              <a:t>large datasets</a:t>
            </a:r>
            <a:r>
              <a:rPr lang="en-US" dirty="0"/>
              <a:t>.</a:t>
            </a:r>
          </a:p>
          <a:p>
            <a:r>
              <a:rPr lang="en-US" dirty="0"/>
              <a:t>Example:</a:t>
            </a:r>
          </a:p>
          <a:p>
            <a:r>
              <a:rPr lang="en-US" dirty="0"/>
              <a:t>If a bank has only </a:t>
            </a:r>
            <a:r>
              <a:rPr lang="en-US" b="1" dirty="0"/>
              <a:t>50 fraud cases</a:t>
            </a:r>
            <a:r>
              <a:rPr lang="en-US" dirty="0"/>
              <a:t>, it is difficult for AI to learn fraud patterns.</a:t>
            </a:r>
          </a:p>
          <a:p>
            <a:r>
              <a:rPr lang="en-US" dirty="0"/>
              <a:t>But if there are </a:t>
            </a:r>
            <a:r>
              <a:rPr lang="en-US" b="1" dirty="0"/>
              <a:t>50,000 fraud cases</a:t>
            </a:r>
            <a:r>
              <a:rPr lang="en-US" dirty="0"/>
              <a:t>, the model can detect patterns more accurately.</a:t>
            </a:r>
          </a:p>
          <a:p>
            <a:r>
              <a:rPr lang="en-US" dirty="0"/>
              <a:t>Product Managers must evaluate:</a:t>
            </a:r>
          </a:p>
          <a:p>
            <a:r>
              <a:rPr lang="en-US" dirty="0"/>
              <a:t>how many records exist</a:t>
            </a:r>
          </a:p>
          <a:p>
            <a:r>
              <a:rPr lang="en-US" dirty="0"/>
              <a:t>how many examples of the target outcome exist</a:t>
            </a:r>
          </a:p>
          <a:p>
            <a:endParaRPr lang="en-IN" dirty="0"/>
          </a:p>
        </p:txBody>
      </p:sp>
    </p:spTree>
    <p:extLst>
      <p:ext uri="{BB962C8B-B14F-4D97-AF65-F5344CB8AC3E}">
        <p14:creationId xmlns:p14="http://schemas.microsoft.com/office/powerpoint/2010/main" val="428576636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87ABC-348B-72C0-7FD2-D949103C0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ECAA0-4448-164F-D8FA-2263AF750339}"/>
              </a:ext>
            </a:extLst>
          </p:cNvPr>
          <p:cNvSpPr>
            <a:spLocks noGrp="1"/>
          </p:cNvSpPr>
          <p:nvPr>
            <p:ph type="title"/>
          </p:nvPr>
        </p:nvSpPr>
        <p:spPr/>
        <p:txBody>
          <a:bodyPr>
            <a:normAutofit/>
          </a:bodyPr>
          <a:lstStyle/>
          <a:p>
            <a:pPr algn="ctr"/>
            <a:r>
              <a:rPr lang="en-US" sz="3200" b="1" dirty="0"/>
              <a:t>Evaluating if Data is Good Enough for an AI Feature</a:t>
            </a:r>
            <a:endParaRPr lang="en-IN" sz="3200" b="1" dirty="0"/>
          </a:p>
        </p:txBody>
      </p:sp>
      <p:sp>
        <p:nvSpPr>
          <p:cNvPr id="3" name="Content Placeholder 2">
            <a:extLst>
              <a:ext uri="{FF2B5EF4-FFF2-40B4-BE49-F238E27FC236}">
                <a16:creationId xmlns:a16="http://schemas.microsoft.com/office/drawing/2014/main" id="{DA8A8C3B-DD33-7B8D-6BCF-E8727826E2D0}"/>
              </a:ext>
            </a:extLst>
          </p:cNvPr>
          <p:cNvSpPr>
            <a:spLocks noGrp="1"/>
          </p:cNvSpPr>
          <p:nvPr>
            <p:ph idx="1"/>
          </p:nvPr>
        </p:nvSpPr>
        <p:spPr/>
        <p:txBody>
          <a:bodyPr/>
          <a:lstStyle/>
          <a:p>
            <a:r>
              <a:rPr lang="en-US" dirty="0"/>
              <a:t>Is Historical Data Available?</a:t>
            </a:r>
          </a:p>
          <a:p>
            <a:r>
              <a:rPr lang="en-US" dirty="0"/>
              <a:t>AI learns from past patterns.</a:t>
            </a:r>
          </a:p>
          <a:p>
            <a:r>
              <a:rPr lang="en-US" dirty="0"/>
              <a:t>Example:</a:t>
            </a:r>
          </a:p>
          <a:p>
            <a:r>
              <a:rPr lang="en-US" dirty="0"/>
              <a:t>To predict loan default, the system must know:</a:t>
            </a:r>
          </a:p>
          <a:p>
            <a:r>
              <a:rPr lang="en-US" dirty="0"/>
              <a:t>which loans were repaid</a:t>
            </a:r>
          </a:p>
          <a:p>
            <a:r>
              <a:rPr lang="en-US" dirty="0"/>
              <a:t>which loans defaulted</a:t>
            </a:r>
          </a:p>
          <a:p>
            <a:r>
              <a:rPr lang="en-US" dirty="0"/>
              <a:t>Without historical outcomes, the model cannot learn.</a:t>
            </a:r>
          </a:p>
          <a:p>
            <a:endParaRPr lang="en-IN" dirty="0"/>
          </a:p>
        </p:txBody>
      </p:sp>
    </p:spTree>
    <p:extLst>
      <p:ext uri="{BB962C8B-B14F-4D97-AF65-F5344CB8AC3E}">
        <p14:creationId xmlns:p14="http://schemas.microsoft.com/office/powerpoint/2010/main" val="35049699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5E632-F5AD-7257-9EA4-C32620B85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BD68B-AFA6-1909-C30B-1A13A2FBEBBE}"/>
              </a:ext>
            </a:extLst>
          </p:cNvPr>
          <p:cNvSpPr>
            <a:spLocks noGrp="1"/>
          </p:cNvSpPr>
          <p:nvPr>
            <p:ph type="title"/>
          </p:nvPr>
        </p:nvSpPr>
        <p:spPr/>
        <p:txBody>
          <a:bodyPr/>
          <a:lstStyle/>
          <a:p>
            <a:r>
              <a:rPr lang="en-US" b="1" dirty="0"/>
              <a:t>Is the Data Structured or Unstructured?</a:t>
            </a:r>
            <a:br>
              <a:rPr lang="en-US" b="1" dirty="0"/>
            </a:br>
            <a:endParaRPr lang="en-IN" dirty="0"/>
          </a:p>
        </p:txBody>
      </p:sp>
      <p:sp>
        <p:nvSpPr>
          <p:cNvPr id="3" name="Content Placeholder 2">
            <a:extLst>
              <a:ext uri="{FF2B5EF4-FFF2-40B4-BE49-F238E27FC236}">
                <a16:creationId xmlns:a16="http://schemas.microsoft.com/office/drawing/2014/main" id="{3FED1E95-470C-BA90-CE6A-D17F5A6018F3}"/>
              </a:ext>
            </a:extLst>
          </p:cNvPr>
          <p:cNvSpPr>
            <a:spLocks noGrp="1"/>
          </p:cNvSpPr>
          <p:nvPr>
            <p:ph idx="1"/>
          </p:nvPr>
        </p:nvSpPr>
        <p:spPr/>
        <p:txBody>
          <a:bodyPr>
            <a:normAutofit lnSpcReduction="10000"/>
          </a:bodyPr>
          <a:lstStyle/>
          <a:p>
            <a:r>
              <a:rPr lang="en-US" dirty="0"/>
              <a:t>Finance data may exist in multiple formats.</a:t>
            </a:r>
          </a:p>
          <a:p>
            <a:r>
              <a:rPr lang="en-US" b="1" dirty="0"/>
              <a:t>Structured Data</a:t>
            </a:r>
          </a:p>
          <a:p>
            <a:r>
              <a:rPr lang="en-US" dirty="0"/>
              <a:t>Highly organized data stored in tables.</a:t>
            </a:r>
          </a:p>
          <a:p>
            <a:r>
              <a:rPr lang="en-US" dirty="0"/>
              <a:t>Examples:</a:t>
            </a:r>
          </a:p>
          <a:p>
            <a:r>
              <a:rPr lang="en-US" dirty="0"/>
              <a:t>transaction records</a:t>
            </a:r>
          </a:p>
          <a:p>
            <a:r>
              <a:rPr lang="en-US" dirty="0"/>
              <a:t>loan applications</a:t>
            </a:r>
          </a:p>
          <a:p>
            <a:r>
              <a:rPr lang="en-US" dirty="0"/>
              <a:t>customer profiles</a:t>
            </a:r>
          </a:p>
          <a:p>
            <a:r>
              <a:rPr lang="en-US" dirty="0"/>
              <a:t>payment history</a:t>
            </a:r>
          </a:p>
          <a:p>
            <a:r>
              <a:rPr lang="en-US" dirty="0"/>
              <a:t>Structured data is easier to use for AI.</a:t>
            </a:r>
          </a:p>
          <a:p>
            <a:endParaRPr lang="en-IN" dirty="0"/>
          </a:p>
        </p:txBody>
      </p:sp>
    </p:spTree>
    <p:extLst>
      <p:ext uri="{BB962C8B-B14F-4D97-AF65-F5344CB8AC3E}">
        <p14:creationId xmlns:p14="http://schemas.microsoft.com/office/powerpoint/2010/main" val="22853045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390E2-6A77-97E6-D5F2-A20648083D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024E73-2DF1-806A-7362-DB5AD748945A}"/>
              </a:ext>
            </a:extLst>
          </p:cNvPr>
          <p:cNvSpPr>
            <a:spLocks noGrp="1"/>
          </p:cNvSpPr>
          <p:nvPr>
            <p:ph idx="1"/>
          </p:nvPr>
        </p:nvSpPr>
        <p:spPr/>
        <p:txBody>
          <a:bodyPr>
            <a:normAutofit lnSpcReduction="10000"/>
          </a:bodyPr>
          <a:lstStyle/>
          <a:p>
            <a:r>
              <a:rPr lang="en-US" b="1" dirty="0"/>
              <a:t>Unstructured Data</a:t>
            </a:r>
          </a:p>
          <a:p>
            <a:r>
              <a:rPr lang="en-US" dirty="0"/>
              <a:t>Data that is not organized in tables.</a:t>
            </a:r>
          </a:p>
          <a:p>
            <a:r>
              <a:rPr lang="en-US" dirty="0"/>
              <a:t>Examples:</a:t>
            </a:r>
          </a:p>
          <a:p>
            <a:r>
              <a:rPr lang="en-US" dirty="0"/>
              <a:t>invoices</a:t>
            </a:r>
          </a:p>
          <a:p>
            <a:r>
              <a:rPr lang="en-US" dirty="0"/>
              <a:t>contracts</a:t>
            </a:r>
          </a:p>
          <a:p>
            <a:r>
              <a:rPr lang="en-US" dirty="0"/>
              <a:t>emails</a:t>
            </a:r>
          </a:p>
          <a:p>
            <a:r>
              <a:rPr lang="en-US" dirty="0"/>
              <a:t>customer complaints</a:t>
            </a:r>
          </a:p>
          <a:p>
            <a:r>
              <a:rPr lang="en-US" dirty="0"/>
              <a:t>AI techniques like </a:t>
            </a:r>
            <a:r>
              <a:rPr lang="en-US" b="1" dirty="0"/>
              <a:t>document processing or NLP</a:t>
            </a:r>
            <a:r>
              <a:rPr lang="en-US" dirty="0"/>
              <a:t> may be required to extract information.</a:t>
            </a:r>
          </a:p>
          <a:p>
            <a:endParaRPr lang="en-IN" dirty="0"/>
          </a:p>
        </p:txBody>
      </p:sp>
    </p:spTree>
    <p:extLst>
      <p:ext uri="{BB962C8B-B14F-4D97-AF65-F5344CB8AC3E}">
        <p14:creationId xmlns:p14="http://schemas.microsoft.com/office/powerpoint/2010/main" val="17825578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C3338-C5BF-CED6-B897-C525C146D4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C9CB5-A104-AC47-7E05-DE27194277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F09F1FA-B1E4-0AE6-3780-5232AFDA398C}"/>
              </a:ext>
            </a:extLst>
          </p:cNvPr>
          <p:cNvSpPr>
            <a:spLocks noGrp="1"/>
          </p:cNvSpPr>
          <p:nvPr>
            <p:ph idx="1"/>
          </p:nvPr>
        </p:nvSpPr>
        <p:spPr/>
        <p:txBody>
          <a:bodyPr>
            <a:normAutofit/>
          </a:bodyPr>
          <a:lstStyle/>
          <a:p>
            <a:r>
              <a:rPr lang="en-US" b="1" dirty="0"/>
              <a:t>Is the Data Complete?</a:t>
            </a:r>
          </a:p>
          <a:p>
            <a:r>
              <a:rPr lang="en-US" dirty="0"/>
              <a:t>Missing data creates unreliable models.</a:t>
            </a:r>
          </a:p>
          <a:p>
            <a:r>
              <a:rPr lang="en-US" dirty="0"/>
              <a:t>Example:</a:t>
            </a:r>
          </a:p>
          <a:p>
            <a:r>
              <a:rPr lang="en-US" dirty="0"/>
              <a:t>Loan dataset missing:</a:t>
            </a:r>
          </a:p>
          <a:p>
            <a:r>
              <a:rPr lang="en-US" dirty="0"/>
              <a:t>income information</a:t>
            </a:r>
          </a:p>
          <a:p>
            <a:r>
              <a:rPr lang="en-US" dirty="0"/>
              <a:t>repayment history</a:t>
            </a:r>
          </a:p>
          <a:p>
            <a:r>
              <a:rPr lang="en-US" dirty="0"/>
              <a:t>employment data</a:t>
            </a:r>
          </a:p>
          <a:p>
            <a:endParaRPr lang="en-IN" dirty="0"/>
          </a:p>
        </p:txBody>
      </p:sp>
    </p:spTree>
    <p:extLst>
      <p:ext uri="{BB962C8B-B14F-4D97-AF65-F5344CB8AC3E}">
        <p14:creationId xmlns:p14="http://schemas.microsoft.com/office/powerpoint/2010/main" val="14940195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089D9-F12D-FD76-2513-DC91D6CC19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775E96-C2FC-5C9E-6778-0ADD64BDE069}"/>
              </a:ext>
            </a:extLst>
          </p:cNvPr>
          <p:cNvSpPr>
            <a:spLocks noGrp="1"/>
          </p:cNvSpPr>
          <p:nvPr>
            <p:ph idx="1"/>
          </p:nvPr>
        </p:nvSpPr>
        <p:spPr/>
        <p:txBody>
          <a:bodyPr/>
          <a:lstStyle/>
          <a:p>
            <a:r>
              <a:rPr lang="en-US" dirty="0"/>
              <a:t>Such incomplete data may reduce prediction accuracy.</a:t>
            </a:r>
          </a:p>
          <a:p>
            <a:r>
              <a:rPr lang="en-US" dirty="0"/>
              <a:t>PMs must check:</a:t>
            </a:r>
          </a:p>
          <a:p>
            <a:r>
              <a:rPr lang="en-US" dirty="0"/>
              <a:t>missing values</a:t>
            </a:r>
          </a:p>
          <a:p>
            <a:r>
              <a:rPr lang="en-US" dirty="0"/>
              <a:t>incomplete records</a:t>
            </a:r>
          </a:p>
          <a:p>
            <a:r>
              <a:rPr lang="en-US" dirty="0"/>
              <a:t>inconsistent fields</a:t>
            </a:r>
          </a:p>
          <a:p>
            <a:endParaRPr lang="en-IN" dirty="0"/>
          </a:p>
        </p:txBody>
      </p:sp>
    </p:spTree>
    <p:extLst>
      <p:ext uri="{BB962C8B-B14F-4D97-AF65-F5344CB8AC3E}">
        <p14:creationId xmlns:p14="http://schemas.microsoft.com/office/powerpoint/2010/main" val="94125114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82F49-D871-26A5-C850-FDAF19F05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E56789-55BA-F5B2-7B24-C9EBB76BD69C}"/>
              </a:ext>
            </a:extLst>
          </p:cNvPr>
          <p:cNvSpPr>
            <a:spLocks noGrp="1"/>
          </p:cNvSpPr>
          <p:nvPr>
            <p:ph type="title"/>
          </p:nvPr>
        </p:nvSpPr>
        <p:spPr/>
        <p:txBody>
          <a:bodyPr/>
          <a:lstStyle/>
          <a:p>
            <a:pPr algn="ctr"/>
            <a:r>
              <a:rPr lang="en-IN" b="1" dirty="0"/>
              <a:t>Is the Data Biased?</a:t>
            </a:r>
          </a:p>
        </p:txBody>
      </p:sp>
      <p:sp>
        <p:nvSpPr>
          <p:cNvPr id="3" name="Content Placeholder 2">
            <a:extLst>
              <a:ext uri="{FF2B5EF4-FFF2-40B4-BE49-F238E27FC236}">
                <a16:creationId xmlns:a16="http://schemas.microsoft.com/office/drawing/2014/main" id="{1C72BD0B-A84E-3DD7-4B89-690FB7D2D529}"/>
              </a:ext>
            </a:extLst>
          </p:cNvPr>
          <p:cNvSpPr>
            <a:spLocks noGrp="1"/>
          </p:cNvSpPr>
          <p:nvPr>
            <p:ph idx="1"/>
          </p:nvPr>
        </p:nvSpPr>
        <p:spPr/>
        <p:txBody>
          <a:bodyPr/>
          <a:lstStyle/>
          <a:p>
            <a:r>
              <a:rPr lang="en-US" dirty="0"/>
              <a:t>Bias occurs when the data does not represent all customer groups fairly.</a:t>
            </a:r>
          </a:p>
          <a:p>
            <a:r>
              <a:rPr lang="en-US" dirty="0"/>
              <a:t>Example:</a:t>
            </a:r>
          </a:p>
          <a:p>
            <a:r>
              <a:rPr lang="en-US" dirty="0"/>
              <a:t>If past loan approvals favored only certain income groups, the AI model may learn the same bias.</a:t>
            </a:r>
          </a:p>
          <a:p>
            <a:r>
              <a:rPr lang="en-US" dirty="0"/>
              <a:t>This creates:</a:t>
            </a:r>
          </a:p>
          <a:p>
            <a:r>
              <a:rPr lang="en-US" dirty="0"/>
              <a:t>unfair lending decisions</a:t>
            </a:r>
          </a:p>
          <a:p>
            <a:r>
              <a:rPr lang="en-US" dirty="0"/>
              <a:t>compliance risks</a:t>
            </a:r>
          </a:p>
          <a:p>
            <a:r>
              <a:rPr lang="en-US" dirty="0"/>
              <a:t>Finance organizations must ensure </a:t>
            </a:r>
            <a:r>
              <a:rPr lang="en-US" b="1" dirty="0"/>
              <a:t>fair and responsible AI decisions</a:t>
            </a:r>
            <a:r>
              <a:rPr lang="en-US" dirty="0"/>
              <a:t>.</a:t>
            </a:r>
          </a:p>
          <a:p>
            <a:endParaRPr lang="en-IN" dirty="0"/>
          </a:p>
        </p:txBody>
      </p:sp>
    </p:spTree>
    <p:extLst>
      <p:ext uri="{BB962C8B-B14F-4D97-AF65-F5344CB8AC3E}">
        <p14:creationId xmlns:p14="http://schemas.microsoft.com/office/powerpoint/2010/main" val="24740062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D963B-25AE-A6D0-C2A4-EFB04AEAF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915EAF-15B9-4C85-CE83-50F29FCC147F}"/>
              </a:ext>
            </a:extLst>
          </p:cNvPr>
          <p:cNvSpPr>
            <a:spLocks noGrp="1"/>
          </p:cNvSpPr>
          <p:nvPr>
            <p:ph type="title"/>
          </p:nvPr>
        </p:nvSpPr>
        <p:spPr/>
        <p:txBody>
          <a:bodyPr/>
          <a:lstStyle/>
          <a:p>
            <a:pPr algn="ctr"/>
            <a:r>
              <a:rPr lang="en-US" b="1" dirty="0"/>
              <a:t>Aligning Business Outcomes with </a:t>
            </a:r>
            <a:br>
              <a:rPr lang="en-US" b="1" dirty="0"/>
            </a:br>
            <a:r>
              <a:rPr lang="en-US" b="1" dirty="0"/>
              <a:t>Prediction or Automation</a:t>
            </a:r>
            <a:endParaRPr lang="en-IN" b="1" dirty="0"/>
          </a:p>
        </p:txBody>
      </p:sp>
      <p:sp>
        <p:nvSpPr>
          <p:cNvPr id="3" name="Content Placeholder 2">
            <a:extLst>
              <a:ext uri="{FF2B5EF4-FFF2-40B4-BE49-F238E27FC236}">
                <a16:creationId xmlns:a16="http://schemas.microsoft.com/office/drawing/2014/main" id="{908B9A01-EC2A-94DE-3B85-F5E54797DFA7}"/>
              </a:ext>
            </a:extLst>
          </p:cNvPr>
          <p:cNvSpPr>
            <a:spLocks noGrp="1"/>
          </p:cNvSpPr>
          <p:nvPr>
            <p:ph idx="1"/>
          </p:nvPr>
        </p:nvSpPr>
        <p:spPr/>
        <p:txBody>
          <a:bodyPr/>
          <a:lstStyle/>
          <a:p>
            <a:pPr>
              <a:lnSpc>
                <a:spcPct val="150000"/>
              </a:lnSpc>
            </a:pPr>
            <a:r>
              <a:rPr lang="en-US" dirty="0"/>
              <a:t>AI features should always be designed to achieve clear business outcomes.</a:t>
            </a:r>
          </a:p>
          <a:p>
            <a:pPr>
              <a:lnSpc>
                <a:spcPct val="150000"/>
              </a:lnSpc>
            </a:pPr>
            <a:r>
              <a:rPr lang="en-US" dirty="0"/>
              <a:t>Product Managers must connect:</a:t>
            </a:r>
          </a:p>
          <a:p>
            <a:pPr>
              <a:lnSpc>
                <a:spcPct val="150000"/>
              </a:lnSpc>
            </a:pPr>
            <a:r>
              <a:rPr lang="en-US" dirty="0"/>
              <a:t>Business Goal → AI Capability → Product Feature</a:t>
            </a:r>
          </a:p>
          <a:p>
            <a:pPr>
              <a:lnSpc>
                <a:spcPct val="150000"/>
              </a:lnSpc>
            </a:pPr>
            <a:endParaRPr lang="en-IN" dirty="0"/>
          </a:p>
        </p:txBody>
      </p:sp>
    </p:spTree>
    <p:extLst>
      <p:ext uri="{BB962C8B-B14F-4D97-AF65-F5344CB8AC3E}">
        <p14:creationId xmlns:p14="http://schemas.microsoft.com/office/powerpoint/2010/main" val="19446673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DBBFC-D332-24CC-CD25-5E3419B0F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E08A3-1FB8-BF5E-42DD-53D8E4C13D0A}"/>
              </a:ext>
            </a:extLst>
          </p:cNvPr>
          <p:cNvSpPr>
            <a:spLocks noGrp="1"/>
          </p:cNvSpPr>
          <p:nvPr>
            <p:ph type="title"/>
          </p:nvPr>
        </p:nvSpPr>
        <p:spPr/>
        <p:txBody>
          <a:bodyPr/>
          <a:lstStyle/>
          <a:p>
            <a:pPr algn="ctr"/>
            <a:r>
              <a:rPr lang="en-US" b="1" dirty="0"/>
              <a:t>Example 1: Lending</a:t>
            </a:r>
            <a:br>
              <a:rPr lang="en-US" b="1" dirty="0"/>
            </a:br>
            <a:endParaRPr lang="en-IN" dirty="0"/>
          </a:p>
        </p:txBody>
      </p:sp>
      <p:sp>
        <p:nvSpPr>
          <p:cNvPr id="3" name="Content Placeholder 2">
            <a:extLst>
              <a:ext uri="{FF2B5EF4-FFF2-40B4-BE49-F238E27FC236}">
                <a16:creationId xmlns:a16="http://schemas.microsoft.com/office/drawing/2014/main" id="{CE838391-874C-F1F2-45E0-1B9C7D3FD6A9}"/>
              </a:ext>
            </a:extLst>
          </p:cNvPr>
          <p:cNvSpPr>
            <a:spLocks noGrp="1"/>
          </p:cNvSpPr>
          <p:nvPr>
            <p:ph idx="1"/>
          </p:nvPr>
        </p:nvSpPr>
        <p:spPr/>
        <p:txBody>
          <a:bodyPr>
            <a:normAutofit/>
          </a:bodyPr>
          <a:lstStyle/>
          <a:p>
            <a:r>
              <a:rPr lang="en-US" dirty="0"/>
              <a:t>Business Goal:</a:t>
            </a:r>
            <a:br>
              <a:rPr lang="en-US" dirty="0"/>
            </a:br>
            <a:r>
              <a:rPr lang="en-US" dirty="0"/>
              <a:t>Reduce loan defaults.</a:t>
            </a:r>
          </a:p>
          <a:p>
            <a:r>
              <a:rPr lang="en-US" dirty="0"/>
              <a:t>AI Capability:</a:t>
            </a:r>
            <a:br>
              <a:rPr lang="en-US" dirty="0"/>
            </a:br>
            <a:r>
              <a:rPr lang="en-US" dirty="0"/>
              <a:t>Predict default probability.</a:t>
            </a:r>
          </a:p>
          <a:p>
            <a:r>
              <a:rPr lang="en-US" dirty="0"/>
              <a:t>Product Feature:</a:t>
            </a:r>
            <a:br>
              <a:rPr lang="en-US" dirty="0"/>
            </a:br>
            <a:r>
              <a:rPr lang="en-US" dirty="0"/>
              <a:t>Risk scoring system during loan approval.</a:t>
            </a:r>
          </a:p>
          <a:p>
            <a:r>
              <a:rPr lang="en-US" dirty="0"/>
              <a:t>Result:</a:t>
            </a:r>
          </a:p>
          <a:p>
            <a:r>
              <a:rPr lang="en-US" dirty="0"/>
              <a:t>better lending decisions</a:t>
            </a:r>
          </a:p>
          <a:p>
            <a:r>
              <a:rPr lang="en-US" dirty="0"/>
              <a:t>reduced financial losses</a:t>
            </a:r>
          </a:p>
          <a:p>
            <a:endParaRPr lang="en-IN" dirty="0"/>
          </a:p>
        </p:txBody>
      </p:sp>
    </p:spTree>
    <p:extLst>
      <p:ext uri="{BB962C8B-B14F-4D97-AF65-F5344CB8AC3E}">
        <p14:creationId xmlns:p14="http://schemas.microsoft.com/office/powerpoint/2010/main" val="24098911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90AAD-E711-626E-A30C-061B68C71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C4A2C-C281-BCF3-8F4F-AF9920435F99}"/>
              </a:ext>
            </a:extLst>
          </p:cNvPr>
          <p:cNvSpPr>
            <a:spLocks noGrp="1"/>
          </p:cNvSpPr>
          <p:nvPr>
            <p:ph type="title"/>
          </p:nvPr>
        </p:nvSpPr>
        <p:spPr/>
        <p:txBody>
          <a:bodyPr/>
          <a:lstStyle/>
          <a:p>
            <a:pPr algn="ctr"/>
            <a:r>
              <a:rPr lang="en-US" b="1" dirty="0"/>
              <a:t>Example 2: Payments</a:t>
            </a:r>
            <a:br>
              <a:rPr lang="en-US" b="1" dirty="0"/>
            </a:br>
            <a:endParaRPr lang="en-IN" dirty="0"/>
          </a:p>
        </p:txBody>
      </p:sp>
      <p:sp>
        <p:nvSpPr>
          <p:cNvPr id="3" name="Content Placeholder 2">
            <a:extLst>
              <a:ext uri="{FF2B5EF4-FFF2-40B4-BE49-F238E27FC236}">
                <a16:creationId xmlns:a16="http://schemas.microsoft.com/office/drawing/2014/main" id="{BE30D1D0-0792-9510-5BFA-0D24165D9A44}"/>
              </a:ext>
            </a:extLst>
          </p:cNvPr>
          <p:cNvSpPr>
            <a:spLocks noGrp="1"/>
          </p:cNvSpPr>
          <p:nvPr>
            <p:ph idx="1"/>
          </p:nvPr>
        </p:nvSpPr>
        <p:spPr/>
        <p:txBody>
          <a:bodyPr>
            <a:normAutofit/>
          </a:bodyPr>
          <a:lstStyle/>
          <a:p>
            <a:r>
              <a:rPr lang="en-US" dirty="0"/>
              <a:t>Business Goal:</a:t>
            </a:r>
            <a:br>
              <a:rPr lang="en-US" dirty="0"/>
            </a:br>
            <a:r>
              <a:rPr lang="en-US" dirty="0"/>
              <a:t>Reduce payment fraud.</a:t>
            </a:r>
          </a:p>
          <a:p>
            <a:r>
              <a:rPr lang="en-US" dirty="0"/>
              <a:t>AI Capability:</a:t>
            </a:r>
            <a:br>
              <a:rPr lang="en-US" dirty="0"/>
            </a:br>
            <a:r>
              <a:rPr lang="en-US" dirty="0"/>
              <a:t>Detect abnormal transaction patterns.</a:t>
            </a:r>
          </a:p>
          <a:p>
            <a:r>
              <a:rPr lang="en-US" dirty="0"/>
              <a:t>Product Feature:</a:t>
            </a:r>
            <a:br>
              <a:rPr lang="en-US" dirty="0"/>
            </a:br>
            <a:r>
              <a:rPr lang="en-US" dirty="0"/>
              <a:t>Real-time fraud detection system.</a:t>
            </a:r>
          </a:p>
          <a:p>
            <a:r>
              <a:rPr lang="en-US" dirty="0"/>
              <a:t>Result:</a:t>
            </a:r>
          </a:p>
          <a:p>
            <a:r>
              <a:rPr lang="en-US" dirty="0"/>
              <a:t>fewer fraudulent transactions</a:t>
            </a:r>
          </a:p>
          <a:p>
            <a:r>
              <a:rPr lang="en-US" dirty="0"/>
              <a:t>increased customer trust</a:t>
            </a:r>
          </a:p>
          <a:p>
            <a:endParaRPr lang="en-IN" dirty="0"/>
          </a:p>
        </p:txBody>
      </p:sp>
    </p:spTree>
    <p:extLst>
      <p:ext uri="{BB962C8B-B14F-4D97-AF65-F5344CB8AC3E}">
        <p14:creationId xmlns:p14="http://schemas.microsoft.com/office/powerpoint/2010/main" val="14057483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171FC-3BF0-158B-A258-FC69D0894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A150B-A039-EECE-CBDD-B1BBB1FF82A5}"/>
              </a:ext>
            </a:extLst>
          </p:cNvPr>
          <p:cNvSpPr>
            <a:spLocks noGrp="1"/>
          </p:cNvSpPr>
          <p:nvPr>
            <p:ph type="title"/>
          </p:nvPr>
        </p:nvSpPr>
        <p:spPr/>
        <p:txBody>
          <a:bodyPr/>
          <a:lstStyle/>
          <a:p>
            <a:pPr algn="ctr"/>
            <a:r>
              <a:rPr lang="en-US" b="1" dirty="0"/>
              <a:t>Example 3: Finance Operations</a:t>
            </a:r>
            <a:br>
              <a:rPr lang="en-US" b="1" dirty="0"/>
            </a:br>
            <a:endParaRPr lang="en-IN" dirty="0"/>
          </a:p>
        </p:txBody>
      </p:sp>
      <p:sp>
        <p:nvSpPr>
          <p:cNvPr id="3" name="Content Placeholder 2">
            <a:extLst>
              <a:ext uri="{FF2B5EF4-FFF2-40B4-BE49-F238E27FC236}">
                <a16:creationId xmlns:a16="http://schemas.microsoft.com/office/drawing/2014/main" id="{FD08EA83-7541-7529-879D-B121A6D4E1F6}"/>
              </a:ext>
            </a:extLst>
          </p:cNvPr>
          <p:cNvSpPr>
            <a:spLocks noGrp="1"/>
          </p:cNvSpPr>
          <p:nvPr>
            <p:ph idx="1"/>
          </p:nvPr>
        </p:nvSpPr>
        <p:spPr/>
        <p:txBody>
          <a:bodyPr>
            <a:normAutofit/>
          </a:bodyPr>
          <a:lstStyle/>
          <a:p>
            <a:r>
              <a:rPr lang="en-US" dirty="0"/>
              <a:t>Business Goal:</a:t>
            </a:r>
            <a:br>
              <a:rPr lang="en-US" dirty="0"/>
            </a:br>
            <a:r>
              <a:rPr lang="en-US" dirty="0"/>
              <a:t>Reduce manual reconciliation effort.</a:t>
            </a:r>
          </a:p>
          <a:p>
            <a:r>
              <a:rPr lang="en-US" dirty="0"/>
              <a:t>AI Capability:</a:t>
            </a:r>
            <a:br>
              <a:rPr lang="en-US" dirty="0"/>
            </a:br>
            <a:r>
              <a:rPr lang="en-US" dirty="0"/>
              <a:t>Pattern matching in financial records.</a:t>
            </a:r>
          </a:p>
          <a:p>
            <a:r>
              <a:rPr lang="en-US" dirty="0"/>
              <a:t>Product Feature:</a:t>
            </a:r>
            <a:br>
              <a:rPr lang="en-US" dirty="0"/>
            </a:br>
            <a:r>
              <a:rPr lang="en-US" dirty="0"/>
              <a:t>Automated reconciliation engine.</a:t>
            </a:r>
          </a:p>
          <a:p>
            <a:r>
              <a:rPr lang="en-US" dirty="0"/>
              <a:t>Result:</a:t>
            </a:r>
          </a:p>
          <a:p>
            <a:r>
              <a:rPr lang="en-US" dirty="0"/>
              <a:t>faster financial closing</a:t>
            </a:r>
          </a:p>
          <a:p>
            <a:r>
              <a:rPr lang="en-US" dirty="0"/>
              <a:t>lower operational cost</a:t>
            </a:r>
          </a:p>
          <a:p>
            <a:endParaRPr lang="en-IN" dirty="0"/>
          </a:p>
        </p:txBody>
      </p:sp>
    </p:spTree>
    <p:extLst>
      <p:ext uri="{BB962C8B-B14F-4D97-AF65-F5344CB8AC3E}">
        <p14:creationId xmlns:p14="http://schemas.microsoft.com/office/powerpoint/2010/main" val="34241359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A5B55-9E83-3F9E-9731-B53CBF0AE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1EF97-64BA-DCE3-11D1-1FB6AB5E44E0}"/>
              </a:ext>
            </a:extLst>
          </p:cNvPr>
          <p:cNvSpPr>
            <a:spLocks noGrp="1"/>
          </p:cNvSpPr>
          <p:nvPr>
            <p:ph type="title"/>
          </p:nvPr>
        </p:nvSpPr>
        <p:spPr/>
        <p:txBody>
          <a:bodyPr/>
          <a:lstStyle/>
          <a:p>
            <a:pPr algn="ctr"/>
            <a:r>
              <a:rPr lang="en-US" b="1" dirty="0"/>
              <a:t>Key Idea for Product Managers</a:t>
            </a:r>
            <a:br>
              <a:rPr lang="en-US" b="1" dirty="0"/>
            </a:br>
            <a:endParaRPr lang="en-IN" dirty="0"/>
          </a:p>
        </p:txBody>
      </p:sp>
      <p:sp>
        <p:nvSpPr>
          <p:cNvPr id="3" name="Content Placeholder 2">
            <a:extLst>
              <a:ext uri="{FF2B5EF4-FFF2-40B4-BE49-F238E27FC236}">
                <a16:creationId xmlns:a16="http://schemas.microsoft.com/office/drawing/2014/main" id="{75602664-813E-4956-1686-2634D9372D57}"/>
              </a:ext>
            </a:extLst>
          </p:cNvPr>
          <p:cNvSpPr>
            <a:spLocks noGrp="1"/>
          </p:cNvSpPr>
          <p:nvPr>
            <p:ph idx="1"/>
          </p:nvPr>
        </p:nvSpPr>
        <p:spPr/>
        <p:txBody>
          <a:bodyPr/>
          <a:lstStyle/>
          <a:p>
            <a:r>
              <a:rPr lang="en-US" dirty="0"/>
              <a:t>Before building an AI feature, ask:</a:t>
            </a:r>
          </a:p>
          <a:p>
            <a:pPr marL="0" indent="0">
              <a:buNone/>
            </a:pPr>
            <a:r>
              <a:rPr lang="en-US" dirty="0"/>
              <a:t>Do we have the right data?</a:t>
            </a:r>
            <a:br>
              <a:rPr lang="en-US" dirty="0"/>
            </a:br>
            <a:r>
              <a:rPr lang="en-US" dirty="0"/>
              <a:t>Is the data reliable and complete?</a:t>
            </a:r>
            <a:br>
              <a:rPr lang="en-US" dirty="0"/>
            </a:br>
            <a:r>
              <a:rPr lang="en-US" dirty="0"/>
              <a:t>What decision will the AI support?</a:t>
            </a:r>
            <a:br>
              <a:rPr lang="en-US" dirty="0"/>
            </a:br>
            <a:r>
              <a:rPr lang="en-US" dirty="0"/>
              <a:t>What business outcome will improve?</a:t>
            </a:r>
          </a:p>
          <a:p>
            <a:r>
              <a:rPr lang="en-US" dirty="0"/>
              <a:t>If these questions are answered clearly, the AI feature has strong product potential.</a:t>
            </a:r>
          </a:p>
          <a:p>
            <a:endParaRPr lang="en-IN" dirty="0"/>
          </a:p>
        </p:txBody>
      </p:sp>
    </p:spTree>
    <p:extLst>
      <p:ext uri="{BB962C8B-B14F-4D97-AF65-F5344CB8AC3E}">
        <p14:creationId xmlns:p14="http://schemas.microsoft.com/office/powerpoint/2010/main" val="41311121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86E36-7817-1EA5-4A33-CEFFA4F31380}"/>
              </a:ext>
            </a:extLst>
          </p:cNvPr>
          <p:cNvSpPr>
            <a:spLocks noGrp="1"/>
          </p:cNvSpPr>
          <p:nvPr>
            <p:ph type="title"/>
          </p:nvPr>
        </p:nvSpPr>
        <p:spPr/>
        <p:txBody>
          <a:bodyPr/>
          <a:lstStyle/>
          <a:p>
            <a:pPr algn="ctr"/>
            <a:r>
              <a:rPr lang="en-US" b="1" dirty="0"/>
              <a:t>Machine Learning (ML) &amp; Deep Learning</a:t>
            </a:r>
            <a:br>
              <a:rPr lang="en-US" b="1" dirty="0"/>
            </a:br>
            <a:endParaRPr lang="en-IN" dirty="0"/>
          </a:p>
        </p:txBody>
      </p:sp>
      <p:sp>
        <p:nvSpPr>
          <p:cNvPr id="3" name="Content Placeholder 2">
            <a:extLst>
              <a:ext uri="{FF2B5EF4-FFF2-40B4-BE49-F238E27FC236}">
                <a16:creationId xmlns:a16="http://schemas.microsoft.com/office/drawing/2014/main" id="{7C1C5639-54C8-C02E-9151-034D6EB086CC}"/>
              </a:ext>
            </a:extLst>
          </p:cNvPr>
          <p:cNvSpPr>
            <a:spLocks noGrp="1"/>
          </p:cNvSpPr>
          <p:nvPr>
            <p:ph idx="1"/>
          </p:nvPr>
        </p:nvSpPr>
        <p:spPr/>
        <p:txBody>
          <a:bodyPr/>
          <a:lstStyle/>
          <a:p>
            <a:r>
              <a:rPr lang="en-US" b="1" dirty="0"/>
              <a:t>Core Function:</a:t>
            </a:r>
            <a:r>
              <a:rPr lang="en-US" dirty="0"/>
              <a:t> Pattern recognition and prediction from vast datasets.</a:t>
            </a:r>
          </a:p>
          <a:p>
            <a:pPr>
              <a:lnSpc>
                <a:spcPct val="150000"/>
              </a:lnSpc>
            </a:pPr>
            <a:r>
              <a:rPr lang="en-US" b="1" dirty="0"/>
              <a:t>Finance Application:</a:t>
            </a:r>
            <a:r>
              <a:rPr lang="en-US" dirty="0"/>
              <a:t> This is the backbone for credit scoring, algorithmic trading, and fraud detection. </a:t>
            </a:r>
          </a:p>
          <a:p>
            <a:r>
              <a:rPr lang="en-US" dirty="0"/>
              <a:t>Deep learning networks, in particular, can analyze complex, non-linear relationships in market data that are invisible to traditional models.</a:t>
            </a:r>
          </a:p>
          <a:p>
            <a:endParaRPr lang="en-IN" dirty="0"/>
          </a:p>
        </p:txBody>
      </p:sp>
    </p:spTree>
    <p:extLst>
      <p:ext uri="{BB962C8B-B14F-4D97-AF65-F5344CB8AC3E}">
        <p14:creationId xmlns:p14="http://schemas.microsoft.com/office/powerpoint/2010/main" val="12614861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C6019-D276-3E57-4327-CF4E8B4042B8}"/>
              </a:ext>
            </a:extLst>
          </p:cNvPr>
          <p:cNvSpPr>
            <a:spLocks noGrp="1"/>
          </p:cNvSpPr>
          <p:nvPr>
            <p:ph type="title"/>
          </p:nvPr>
        </p:nvSpPr>
        <p:spPr/>
        <p:txBody>
          <a:bodyPr>
            <a:normAutofit fontScale="90000"/>
          </a:bodyPr>
          <a:lstStyle/>
          <a:p>
            <a:pPr algn="ctr"/>
            <a:r>
              <a:rPr lang="en-US" b="1" dirty="0"/>
              <a:t> </a:t>
            </a:r>
            <a:br>
              <a:rPr lang="en-US" b="1" dirty="0"/>
            </a:br>
            <a:r>
              <a:rPr lang="en-US" b="1" dirty="0"/>
              <a:t>Robotic Process Automation (RPA) </a:t>
            </a:r>
            <a:br>
              <a:rPr lang="en-US" b="1" dirty="0"/>
            </a:br>
            <a:r>
              <a:rPr lang="en-US" b="1" dirty="0"/>
              <a:t>Enhanced with AI</a:t>
            </a:r>
            <a:br>
              <a:rPr lang="en-US" b="1" dirty="0"/>
            </a:br>
            <a:endParaRPr lang="en-IN" dirty="0"/>
          </a:p>
        </p:txBody>
      </p:sp>
      <p:sp>
        <p:nvSpPr>
          <p:cNvPr id="3" name="Content Placeholder 2">
            <a:extLst>
              <a:ext uri="{FF2B5EF4-FFF2-40B4-BE49-F238E27FC236}">
                <a16:creationId xmlns:a16="http://schemas.microsoft.com/office/drawing/2014/main" id="{418E6F3C-DC1D-72C8-B56A-9059A8F888A0}"/>
              </a:ext>
            </a:extLst>
          </p:cNvPr>
          <p:cNvSpPr>
            <a:spLocks noGrp="1"/>
          </p:cNvSpPr>
          <p:nvPr>
            <p:ph idx="1"/>
          </p:nvPr>
        </p:nvSpPr>
        <p:spPr/>
        <p:txBody>
          <a:bodyPr/>
          <a:lstStyle/>
          <a:p>
            <a:pPr>
              <a:lnSpc>
                <a:spcPct val="150000"/>
              </a:lnSpc>
            </a:pPr>
            <a:r>
              <a:rPr lang="en-US" b="1" dirty="0"/>
              <a:t>Core Function:</a:t>
            </a:r>
            <a:r>
              <a:rPr lang="en-US" dirty="0"/>
              <a:t> Automating repetitive, rule-based tasks.</a:t>
            </a:r>
          </a:p>
          <a:p>
            <a:pPr>
              <a:lnSpc>
                <a:spcPct val="150000"/>
              </a:lnSpc>
            </a:pPr>
            <a:r>
              <a:rPr lang="en-US" b="1" dirty="0"/>
              <a:t>Finance Application:</a:t>
            </a:r>
            <a:r>
              <a:rPr lang="en-US" dirty="0"/>
              <a:t> While RPA alone is not AI, when infused with AI (often called “Intelligent Process Automation” or IPA), it can handle exceptions and make judgments. Think of it automating invoice processing, but also learning to handle discrepancies without human intervention.</a:t>
            </a:r>
          </a:p>
          <a:p>
            <a:pPr>
              <a:lnSpc>
                <a:spcPct val="150000"/>
              </a:lnSpc>
            </a:pPr>
            <a:endParaRPr lang="en-IN" dirty="0"/>
          </a:p>
        </p:txBody>
      </p:sp>
    </p:spTree>
    <p:extLst>
      <p:ext uri="{BB962C8B-B14F-4D97-AF65-F5344CB8AC3E}">
        <p14:creationId xmlns:p14="http://schemas.microsoft.com/office/powerpoint/2010/main" val="29710971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D95C-9378-70D0-BC60-6D664FB5FCDB}"/>
              </a:ext>
            </a:extLst>
          </p:cNvPr>
          <p:cNvSpPr>
            <a:spLocks noGrp="1"/>
          </p:cNvSpPr>
          <p:nvPr>
            <p:ph type="title"/>
          </p:nvPr>
        </p:nvSpPr>
        <p:spPr/>
        <p:txBody>
          <a:bodyPr/>
          <a:lstStyle/>
          <a:p>
            <a:pPr algn="ctr"/>
            <a:r>
              <a:rPr lang="en-IN" b="1" dirty="0"/>
              <a:t>Natural Language Processing (NLP)</a:t>
            </a:r>
            <a:br>
              <a:rPr lang="en-IN" b="1" dirty="0"/>
            </a:br>
            <a:endParaRPr lang="en-IN" dirty="0"/>
          </a:p>
        </p:txBody>
      </p:sp>
      <p:sp>
        <p:nvSpPr>
          <p:cNvPr id="3" name="Content Placeholder 2">
            <a:extLst>
              <a:ext uri="{FF2B5EF4-FFF2-40B4-BE49-F238E27FC236}">
                <a16:creationId xmlns:a16="http://schemas.microsoft.com/office/drawing/2014/main" id="{C389A0C5-E01A-CF7E-B751-0C8013D39A8E}"/>
              </a:ext>
            </a:extLst>
          </p:cNvPr>
          <p:cNvSpPr>
            <a:spLocks noGrp="1"/>
          </p:cNvSpPr>
          <p:nvPr>
            <p:ph idx="1"/>
          </p:nvPr>
        </p:nvSpPr>
        <p:spPr/>
        <p:txBody>
          <a:bodyPr/>
          <a:lstStyle/>
          <a:p>
            <a:pPr>
              <a:lnSpc>
                <a:spcPct val="150000"/>
              </a:lnSpc>
            </a:pPr>
            <a:r>
              <a:rPr lang="en-US" b="1" dirty="0"/>
              <a:t>Core Function:</a:t>
            </a:r>
            <a:r>
              <a:rPr lang="en-US" dirty="0"/>
              <a:t> Understanding and generating human language.</a:t>
            </a:r>
          </a:p>
          <a:p>
            <a:pPr>
              <a:lnSpc>
                <a:spcPct val="150000"/>
              </a:lnSpc>
            </a:pPr>
            <a:r>
              <a:rPr lang="en-US" b="1" dirty="0"/>
              <a:t>Finance Application:</a:t>
            </a:r>
            <a:r>
              <a:rPr lang="en-US" dirty="0"/>
              <a:t> Powers sentiment analysis of news and social media for trading signals, automates customer service via advanced chatbots, and extracts critical information from unstructured documents like legal contracts and earnings reports.</a:t>
            </a:r>
          </a:p>
          <a:p>
            <a:pPr>
              <a:lnSpc>
                <a:spcPct val="150000"/>
              </a:lnSpc>
            </a:pPr>
            <a:endParaRPr lang="en-IN" dirty="0"/>
          </a:p>
        </p:txBody>
      </p:sp>
    </p:spTree>
    <p:extLst>
      <p:ext uri="{BB962C8B-B14F-4D97-AF65-F5344CB8AC3E}">
        <p14:creationId xmlns:p14="http://schemas.microsoft.com/office/powerpoint/2010/main" val="1843742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B1D4-1AF7-2F35-C373-825E481AF6AE}"/>
              </a:ext>
            </a:extLst>
          </p:cNvPr>
          <p:cNvSpPr>
            <a:spLocks noGrp="1"/>
          </p:cNvSpPr>
          <p:nvPr>
            <p:ph type="title"/>
          </p:nvPr>
        </p:nvSpPr>
        <p:spPr/>
        <p:txBody>
          <a:bodyPr/>
          <a:lstStyle/>
          <a:p>
            <a:pPr algn="ctr"/>
            <a:r>
              <a:rPr lang="en-IN" b="1" dirty="0"/>
              <a:t>Generative AI</a:t>
            </a:r>
            <a:br>
              <a:rPr lang="en-IN" b="1" dirty="0"/>
            </a:br>
            <a:endParaRPr lang="en-IN" dirty="0"/>
          </a:p>
        </p:txBody>
      </p:sp>
      <p:sp>
        <p:nvSpPr>
          <p:cNvPr id="3" name="Content Placeholder 2">
            <a:extLst>
              <a:ext uri="{FF2B5EF4-FFF2-40B4-BE49-F238E27FC236}">
                <a16:creationId xmlns:a16="http://schemas.microsoft.com/office/drawing/2014/main" id="{94858532-1056-7E95-0E5C-9A2B64BE9DE0}"/>
              </a:ext>
            </a:extLst>
          </p:cNvPr>
          <p:cNvSpPr>
            <a:spLocks noGrp="1"/>
          </p:cNvSpPr>
          <p:nvPr>
            <p:ph idx="1"/>
          </p:nvPr>
        </p:nvSpPr>
        <p:spPr/>
        <p:txBody>
          <a:bodyPr/>
          <a:lstStyle/>
          <a:p>
            <a:r>
              <a:rPr lang="en-US" b="1" dirty="0"/>
              <a:t>Core Function:</a:t>
            </a:r>
            <a:r>
              <a:rPr lang="en-US" dirty="0"/>
              <a:t> Creating new content, scenarios, and data.</a:t>
            </a:r>
          </a:p>
          <a:p>
            <a:r>
              <a:rPr lang="en-US" b="1" dirty="0"/>
              <a:t>Finance Application:</a:t>
            </a:r>
            <a:r>
              <a:rPr lang="en-US" dirty="0"/>
              <a:t> Beyond chatbots, Generative AI is used for </a:t>
            </a:r>
            <a:r>
              <a:rPr lang="en-US" b="1" dirty="0"/>
              <a:t>synthetic data generation</a:t>
            </a:r>
            <a:r>
              <a:rPr lang="en-US" dirty="0"/>
              <a:t> to train models without compromising real customer data, stress-testing portfolios by simulating thousands of unique economic scenarios, and generating personalized financial reports.</a:t>
            </a:r>
          </a:p>
          <a:p>
            <a:endParaRPr lang="en-IN" dirty="0"/>
          </a:p>
        </p:txBody>
      </p:sp>
    </p:spTree>
    <p:extLst>
      <p:ext uri="{BB962C8B-B14F-4D97-AF65-F5344CB8AC3E}">
        <p14:creationId xmlns:p14="http://schemas.microsoft.com/office/powerpoint/2010/main" val="187642013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7CE77-CA7B-5C95-774D-6C6F69BFA4B3}"/>
              </a:ext>
            </a:extLst>
          </p:cNvPr>
          <p:cNvSpPr>
            <a:spLocks noGrp="1"/>
          </p:cNvSpPr>
          <p:nvPr>
            <p:ph type="title"/>
          </p:nvPr>
        </p:nvSpPr>
        <p:spPr/>
        <p:txBody>
          <a:bodyPr/>
          <a:lstStyle/>
          <a:p>
            <a:pPr algn="ctr"/>
            <a:r>
              <a:rPr lang="en-IN" b="1" dirty="0"/>
              <a:t>Computer Vision</a:t>
            </a:r>
            <a:br>
              <a:rPr lang="en-IN" b="1" dirty="0"/>
            </a:br>
            <a:endParaRPr lang="en-IN" dirty="0"/>
          </a:p>
        </p:txBody>
      </p:sp>
      <p:sp>
        <p:nvSpPr>
          <p:cNvPr id="3" name="Content Placeholder 2">
            <a:extLst>
              <a:ext uri="{FF2B5EF4-FFF2-40B4-BE49-F238E27FC236}">
                <a16:creationId xmlns:a16="http://schemas.microsoft.com/office/drawing/2014/main" id="{5D38677C-96EC-047A-FB1C-3A3E6B898CD9}"/>
              </a:ext>
            </a:extLst>
          </p:cNvPr>
          <p:cNvSpPr>
            <a:spLocks noGrp="1"/>
          </p:cNvSpPr>
          <p:nvPr>
            <p:ph idx="1"/>
          </p:nvPr>
        </p:nvSpPr>
        <p:spPr/>
        <p:txBody>
          <a:bodyPr/>
          <a:lstStyle/>
          <a:p>
            <a:pPr>
              <a:lnSpc>
                <a:spcPct val="150000"/>
              </a:lnSpc>
            </a:pPr>
            <a:r>
              <a:rPr lang="en-IN" b="1" dirty="0"/>
              <a:t>Core Function:</a:t>
            </a:r>
            <a:r>
              <a:rPr lang="en-IN" dirty="0"/>
              <a:t> Deriving information from images and documents.</a:t>
            </a:r>
          </a:p>
          <a:p>
            <a:pPr>
              <a:lnSpc>
                <a:spcPct val="150000"/>
              </a:lnSpc>
            </a:pPr>
            <a:r>
              <a:rPr lang="en-IN" b="1" dirty="0"/>
              <a:t>Finance Application:</a:t>
            </a:r>
            <a:r>
              <a:rPr lang="en-IN" dirty="0"/>
              <a:t> Automates the verification of identity documents (e.g., passports, driver’s licenses) for KYC/AML processes and </a:t>
            </a:r>
            <a:r>
              <a:rPr lang="en-IN" dirty="0" err="1"/>
              <a:t>analyzes</a:t>
            </a:r>
            <a:r>
              <a:rPr lang="en-IN" dirty="0"/>
              <a:t> damage assessments in insurance claims from submitted photos.</a:t>
            </a:r>
          </a:p>
          <a:p>
            <a:pPr>
              <a:lnSpc>
                <a:spcPct val="150000"/>
              </a:lnSpc>
            </a:pPr>
            <a:endParaRPr lang="en-IN" dirty="0"/>
          </a:p>
        </p:txBody>
      </p:sp>
    </p:spTree>
    <p:extLst>
      <p:ext uri="{BB962C8B-B14F-4D97-AF65-F5344CB8AC3E}">
        <p14:creationId xmlns:p14="http://schemas.microsoft.com/office/powerpoint/2010/main" val="38552736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B0E7-F77E-5C0C-2B7D-9B4244B3A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F41C6-370D-4E7A-813E-DB6504D0C359}"/>
              </a:ext>
            </a:extLst>
          </p:cNvPr>
          <p:cNvSpPr>
            <a:spLocks noGrp="1"/>
          </p:cNvSpPr>
          <p:nvPr>
            <p:ph type="title"/>
          </p:nvPr>
        </p:nvSpPr>
        <p:spPr/>
        <p:txBody>
          <a:bodyPr>
            <a:normAutofit fontScale="90000"/>
          </a:bodyPr>
          <a:lstStyle/>
          <a:p>
            <a:pPr algn="ctr"/>
            <a:r>
              <a:rPr lang="en-US" b="1" dirty="0"/>
              <a:t>AI-Driven Portfolio Management &amp; Algo-Trading</a:t>
            </a:r>
            <a:br>
              <a:rPr lang="en-US" b="1" dirty="0"/>
            </a:br>
            <a:endParaRPr lang="en-IN" dirty="0"/>
          </a:p>
        </p:txBody>
      </p:sp>
      <p:sp>
        <p:nvSpPr>
          <p:cNvPr id="3" name="Content Placeholder 2">
            <a:extLst>
              <a:ext uri="{FF2B5EF4-FFF2-40B4-BE49-F238E27FC236}">
                <a16:creationId xmlns:a16="http://schemas.microsoft.com/office/drawing/2014/main" id="{BA495F20-CED6-D8E8-467A-A2AF87778FE7}"/>
              </a:ext>
            </a:extLst>
          </p:cNvPr>
          <p:cNvSpPr>
            <a:spLocks noGrp="1"/>
          </p:cNvSpPr>
          <p:nvPr>
            <p:ph idx="1"/>
          </p:nvPr>
        </p:nvSpPr>
        <p:spPr/>
        <p:txBody>
          <a:bodyPr/>
          <a:lstStyle/>
          <a:p>
            <a:r>
              <a:rPr lang="en-US" b="1" dirty="0"/>
              <a:t>Beyond Automation:</a:t>
            </a:r>
            <a:r>
              <a:rPr lang="en-US" dirty="0"/>
              <a:t> Platforms like BlackRock’s Aladdin are now table stakes. The next frontier is </a:t>
            </a:r>
            <a:r>
              <a:rPr lang="en-US" b="1" dirty="0"/>
              <a:t>Reinforcement Learning</a:t>
            </a:r>
            <a:r>
              <a:rPr lang="en-US" dirty="0"/>
              <a:t>, where AI agents learn optimal trading strategies through trial and error in simulated market environments, adapting to new market regimes far quicker than human-defined algorithms.</a:t>
            </a:r>
          </a:p>
          <a:p>
            <a:endParaRPr lang="en-IN" dirty="0"/>
          </a:p>
        </p:txBody>
      </p:sp>
    </p:spTree>
    <p:extLst>
      <p:ext uri="{BB962C8B-B14F-4D97-AF65-F5344CB8AC3E}">
        <p14:creationId xmlns:p14="http://schemas.microsoft.com/office/powerpoint/2010/main" val="36640282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79066-FAB6-6418-67FA-E222EDF75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5BF8B-97F7-CE6A-B800-6ACE3DF92D23}"/>
              </a:ext>
            </a:extLst>
          </p:cNvPr>
          <p:cNvSpPr>
            <a:spLocks noGrp="1"/>
          </p:cNvSpPr>
          <p:nvPr>
            <p:ph type="title"/>
          </p:nvPr>
        </p:nvSpPr>
        <p:spPr/>
        <p:txBody>
          <a:bodyPr>
            <a:normAutofit fontScale="90000"/>
          </a:bodyPr>
          <a:lstStyle/>
          <a:p>
            <a:pPr algn="ctr"/>
            <a:br>
              <a:rPr lang="en-US" b="1" dirty="0"/>
            </a:br>
            <a:r>
              <a:rPr lang="en-US" b="1" dirty="0"/>
              <a:t>Hyper-Personalized Banking &amp; Wealth Management</a:t>
            </a:r>
            <a:br>
              <a:rPr lang="en-US" b="1" dirty="0"/>
            </a:br>
            <a:endParaRPr lang="en-IN" dirty="0"/>
          </a:p>
        </p:txBody>
      </p:sp>
      <p:sp>
        <p:nvSpPr>
          <p:cNvPr id="3" name="Content Placeholder 2">
            <a:extLst>
              <a:ext uri="{FF2B5EF4-FFF2-40B4-BE49-F238E27FC236}">
                <a16:creationId xmlns:a16="http://schemas.microsoft.com/office/drawing/2014/main" id="{EFD5F181-FA15-BE7D-FBB6-E64BBD8912FD}"/>
              </a:ext>
            </a:extLst>
          </p:cNvPr>
          <p:cNvSpPr>
            <a:spLocks noGrp="1"/>
          </p:cNvSpPr>
          <p:nvPr>
            <p:ph idx="1"/>
          </p:nvPr>
        </p:nvSpPr>
        <p:spPr/>
        <p:txBody>
          <a:bodyPr/>
          <a:lstStyle/>
          <a:p>
            <a:pPr>
              <a:lnSpc>
                <a:spcPct val="150000"/>
              </a:lnSpc>
            </a:pPr>
            <a:r>
              <a:rPr lang="en-US" b="1" dirty="0"/>
              <a:t>Beyond Product Recommendations:</a:t>
            </a:r>
            <a:r>
              <a:rPr lang="en-US" dirty="0"/>
              <a:t> AI will power true </a:t>
            </a:r>
            <a:r>
              <a:rPr lang="en-US" b="1" dirty="0"/>
              <a:t>contextual and behavioral banking</a:t>
            </a:r>
            <a:r>
              <a:rPr lang="en-US" dirty="0"/>
              <a:t>. For example, your banking app might analyze your calendar, location, and spending habits to automatically suggest saving for an upcoming trip or offer a short-term loan if it detects an unexpected large expense.</a:t>
            </a:r>
          </a:p>
          <a:p>
            <a:pPr>
              <a:lnSpc>
                <a:spcPct val="150000"/>
              </a:lnSpc>
            </a:pPr>
            <a:endParaRPr lang="en-IN" dirty="0"/>
          </a:p>
        </p:txBody>
      </p:sp>
    </p:spTree>
    <p:extLst>
      <p:ext uri="{BB962C8B-B14F-4D97-AF65-F5344CB8AC3E}">
        <p14:creationId xmlns:p14="http://schemas.microsoft.com/office/powerpoint/2010/main" val="26984316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91A48-3B74-7E4D-193C-B3F8FBFFC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FA143-DF12-618C-37D3-93242BC0A09B}"/>
              </a:ext>
            </a:extLst>
          </p:cNvPr>
          <p:cNvSpPr>
            <a:spLocks noGrp="1"/>
          </p:cNvSpPr>
          <p:nvPr>
            <p:ph type="title"/>
          </p:nvPr>
        </p:nvSpPr>
        <p:spPr/>
        <p:txBody>
          <a:bodyPr/>
          <a:lstStyle/>
          <a:p>
            <a:r>
              <a:rPr lang="en-US" b="1" dirty="0"/>
              <a:t>3. Predictive Risk Management &amp; Underwriting</a:t>
            </a:r>
            <a:br>
              <a:rPr lang="en-US" b="1" dirty="0"/>
            </a:br>
            <a:endParaRPr lang="en-IN" dirty="0"/>
          </a:p>
        </p:txBody>
      </p:sp>
      <p:sp>
        <p:nvSpPr>
          <p:cNvPr id="3" name="Content Placeholder 2">
            <a:extLst>
              <a:ext uri="{FF2B5EF4-FFF2-40B4-BE49-F238E27FC236}">
                <a16:creationId xmlns:a16="http://schemas.microsoft.com/office/drawing/2014/main" id="{EA122D12-1949-5145-138D-6F0F7D60D7E4}"/>
              </a:ext>
            </a:extLst>
          </p:cNvPr>
          <p:cNvSpPr>
            <a:spLocks noGrp="1"/>
          </p:cNvSpPr>
          <p:nvPr>
            <p:ph idx="1"/>
          </p:nvPr>
        </p:nvSpPr>
        <p:spPr/>
        <p:txBody>
          <a:bodyPr/>
          <a:lstStyle/>
          <a:p>
            <a:r>
              <a:rPr lang="en-US" b="1" dirty="0"/>
              <a:t>Beyond Traditional Metrics:</a:t>
            </a:r>
            <a:r>
              <a:rPr lang="en-US" dirty="0"/>
              <a:t> Insurers and lenders are moving from historical data to </a:t>
            </a:r>
            <a:r>
              <a:rPr lang="en-US" b="1" dirty="0"/>
              <a:t>predictive behavioral data</a:t>
            </a:r>
            <a:r>
              <a:rPr lang="en-US" dirty="0"/>
              <a:t>. For instance, auto insurers might use telematics (via smartphone apps) to assess driving behavior in real-time, while lenders might analyze cash flow patterns with much greater granularity than a simple credit score.</a:t>
            </a:r>
          </a:p>
          <a:p>
            <a:endParaRPr lang="en-IN" dirty="0"/>
          </a:p>
        </p:txBody>
      </p:sp>
    </p:spTree>
    <p:extLst>
      <p:ext uri="{BB962C8B-B14F-4D97-AF65-F5344CB8AC3E}">
        <p14:creationId xmlns:p14="http://schemas.microsoft.com/office/powerpoint/2010/main" val="168911228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9246F-DFF9-F33D-A8B5-E6E614D9A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D6889-5C31-14DF-2EE3-0BE9497A82CA}"/>
              </a:ext>
            </a:extLst>
          </p:cNvPr>
          <p:cNvSpPr>
            <a:spLocks noGrp="1"/>
          </p:cNvSpPr>
          <p:nvPr>
            <p:ph type="title"/>
          </p:nvPr>
        </p:nvSpPr>
        <p:spPr/>
        <p:txBody>
          <a:bodyPr/>
          <a:lstStyle/>
          <a:p>
            <a:r>
              <a:rPr lang="en-US" b="1" dirty="0"/>
              <a:t>4. Next-Generation Fraud Detection and AML</a:t>
            </a:r>
            <a:br>
              <a:rPr lang="en-US" b="1" dirty="0"/>
            </a:br>
            <a:endParaRPr lang="en-IN" dirty="0"/>
          </a:p>
        </p:txBody>
      </p:sp>
      <p:sp>
        <p:nvSpPr>
          <p:cNvPr id="3" name="Content Placeholder 2">
            <a:extLst>
              <a:ext uri="{FF2B5EF4-FFF2-40B4-BE49-F238E27FC236}">
                <a16:creationId xmlns:a16="http://schemas.microsoft.com/office/drawing/2014/main" id="{5E26FFA2-20A9-4A55-1D73-25B6E4CD352A}"/>
              </a:ext>
            </a:extLst>
          </p:cNvPr>
          <p:cNvSpPr>
            <a:spLocks noGrp="1"/>
          </p:cNvSpPr>
          <p:nvPr>
            <p:ph idx="1"/>
          </p:nvPr>
        </p:nvSpPr>
        <p:spPr/>
        <p:txBody>
          <a:bodyPr/>
          <a:lstStyle/>
          <a:p>
            <a:r>
              <a:rPr lang="en-US" b="1" dirty="0"/>
              <a:t>Beyond Pattern Matching:</a:t>
            </a:r>
            <a:r>
              <a:rPr lang="en-US" dirty="0"/>
              <a:t> Instead of just flagging transactions that break rules, AI will build a “behavioral biometrics” profile for each user. It understands your typical transaction patterns, device usage, and even typing speed. Any deviation from this baseline raises a flag, catching sophisticated, novel fraud attempts that rule-based systems miss.</a:t>
            </a:r>
          </a:p>
          <a:p>
            <a:endParaRPr lang="en-IN" dirty="0"/>
          </a:p>
        </p:txBody>
      </p:sp>
    </p:spTree>
    <p:extLst>
      <p:ext uri="{BB962C8B-B14F-4D97-AF65-F5344CB8AC3E}">
        <p14:creationId xmlns:p14="http://schemas.microsoft.com/office/powerpoint/2010/main" val="21130049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740EE-0E70-36B4-D343-2402496F6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85E1B-644E-3670-0D9E-6673D807A15E}"/>
              </a:ext>
            </a:extLst>
          </p:cNvPr>
          <p:cNvSpPr>
            <a:spLocks noGrp="1"/>
          </p:cNvSpPr>
          <p:nvPr>
            <p:ph type="title"/>
          </p:nvPr>
        </p:nvSpPr>
        <p:spPr/>
        <p:txBody>
          <a:bodyPr/>
          <a:lstStyle/>
          <a:p>
            <a:r>
              <a:rPr lang="en-US" b="1" dirty="0"/>
              <a:t>Autonomous Finance Operations</a:t>
            </a:r>
            <a:br>
              <a:rPr lang="en-US" b="1" dirty="0"/>
            </a:br>
            <a:endParaRPr lang="en-IN" dirty="0"/>
          </a:p>
        </p:txBody>
      </p:sp>
      <p:sp>
        <p:nvSpPr>
          <p:cNvPr id="3" name="Content Placeholder 2">
            <a:extLst>
              <a:ext uri="{FF2B5EF4-FFF2-40B4-BE49-F238E27FC236}">
                <a16:creationId xmlns:a16="http://schemas.microsoft.com/office/drawing/2014/main" id="{7E58D432-F281-1CA8-E5C2-78D91CC90BBD}"/>
              </a:ext>
            </a:extLst>
          </p:cNvPr>
          <p:cNvSpPr>
            <a:spLocks noGrp="1"/>
          </p:cNvSpPr>
          <p:nvPr>
            <p:ph idx="1"/>
          </p:nvPr>
        </p:nvSpPr>
        <p:spPr/>
        <p:txBody>
          <a:bodyPr/>
          <a:lstStyle/>
          <a:p>
            <a:r>
              <a:rPr lang="en-US" b="1" dirty="0"/>
              <a:t>Beyond RPA:</a:t>
            </a:r>
            <a:r>
              <a:rPr lang="en-US" dirty="0"/>
              <a:t> Corporate finance departments will leverage AI for continuous accounting and forecasting. AI systems will automatically reconcile transactions, identify anomalies in real-time, and generate financial forecasts that update dynamically as new market or operational data comes in, moving the finance team’s role from reporter to strategic advisor.</a:t>
            </a:r>
          </a:p>
          <a:p>
            <a:endParaRPr lang="en-IN" dirty="0"/>
          </a:p>
        </p:txBody>
      </p:sp>
    </p:spTree>
    <p:extLst>
      <p:ext uri="{BB962C8B-B14F-4D97-AF65-F5344CB8AC3E}">
        <p14:creationId xmlns:p14="http://schemas.microsoft.com/office/powerpoint/2010/main" val="36388088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4D71F-F137-CDCF-08FC-C5D4F2E95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9D853-80FA-865B-28D9-33700EDE77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452A5A2-DCDD-5B1F-CB8F-343D98F01882}"/>
              </a:ext>
            </a:extLst>
          </p:cNvPr>
          <p:cNvSpPr>
            <a:spLocks noGrp="1"/>
          </p:cNvSpPr>
          <p:nvPr>
            <p:ph idx="1"/>
          </p:nvPr>
        </p:nvSpPr>
        <p:spPr/>
        <p:txBody>
          <a:bodyPr/>
          <a:lstStyle/>
          <a:p>
            <a:r>
              <a:rPr lang="en-US" b="1" dirty="0"/>
              <a:t>Data Quality and Accessibility</a:t>
            </a:r>
          </a:p>
          <a:p>
            <a:r>
              <a:rPr lang="en-US" b="1" dirty="0"/>
              <a:t>The Problem:</a:t>
            </a:r>
            <a:r>
              <a:rPr lang="en-US" dirty="0"/>
              <a:t> AI models are only as good as the data they’re trained on. Most financial institutions suffer from siloed, inconsistent, and poor-quality data.</a:t>
            </a:r>
          </a:p>
          <a:p>
            <a:endParaRPr lang="en-IN" dirty="0"/>
          </a:p>
        </p:txBody>
      </p:sp>
    </p:spTree>
    <p:extLst>
      <p:ext uri="{BB962C8B-B14F-4D97-AF65-F5344CB8AC3E}">
        <p14:creationId xmlns:p14="http://schemas.microsoft.com/office/powerpoint/2010/main" val="329082598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8D4A4-4CCA-7BCC-80AC-DB2733D9A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46038-340B-7140-4039-AE6183DEC7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AA921B-EECA-CF3F-3E63-CA2C67CA16B7}"/>
              </a:ext>
            </a:extLst>
          </p:cNvPr>
          <p:cNvSpPr>
            <a:spLocks noGrp="1"/>
          </p:cNvSpPr>
          <p:nvPr>
            <p:ph idx="1"/>
          </p:nvPr>
        </p:nvSpPr>
        <p:spPr/>
        <p:txBody>
          <a:bodyPr/>
          <a:lstStyle/>
          <a:p>
            <a:r>
              <a:rPr lang="en-US" b="1" dirty="0"/>
              <a:t>Algorithmic Bias and Fairness</a:t>
            </a:r>
          </a:p>
          <a:p>
            <a:r>
              <a:rPr lang="en-US" b="1" dirty="0"/>
              <a:t>The Problem:</a:t>
            </a:r>
            <a:r>
              <a:rPr lang="en-US" dirty="0"/>
              <a:t> AI can perpetuate and even amplify existing biases in historical data, leading to discriminatory lending, hiring, or insurance practices.</a:t>
            </a:r>
          </a:p>
          <a:p>
            <a:endParaRPr lang="en-IN" dirty="0"/>
          </a:p>
        </p:txBody>
      </p:sp>
    </p:spTree>
    <p:extLst>
      <p:ext uri="{BB962C8B-B14F-4D97-AF65-F5344CB8AC3E}">
        <p14:creationId xmlns:p14="http://schemas.microsoft.com/office/powerpoint/2010/main" val="5084142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1B257-5833-DF2C-DCB8-7C94D8536C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93442-9FC1-B791-C094-2F3C01A4F2E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A40738-ADEC-88FC-2856-A347BCFC9CF5}"/>
              </a:ext>
            </a:extLst>
          </p:cNvPr>
          <p:cNvSpPr>
            <a:spLocks noGrp="1"/>
          </p:cNvSpPr>
          <p:nvPr>
            <p:ph idx="1"/>
          </p:nvPr>
        </p:nvSpPr>
        <p:spPr/>
        <p:txBody>
          <a:bodyPr/>
          <a:lstStyle/>
          <a:p>
            <a:r>
              <a:rPr lang="en-US" b="1" dirty="0"/>
              <a:t>The Talent Gap</a:t>
            </a:r>
          </a:p>
          <a:p>
            <a:r>
              <a:rPr lang="en-US" b="1" dirty="0"/>
              <a:t>The Problem:</a:t>
            </a:r>
            <a:r>
              <a:rPr lang="en-US" dirty="0"/>
              <a:t> There is a fierce competition for data scientists and ML engineers who also understand finance.</a:t>
            </a:r>
          </a:p>
          <a:p>
            <a:endParaRPr lang="en-IN" dirty="0"/>
          </a:p>
        </p:txBody>
      </p:sp>
    </p:spTree>
    <p:extLst>
      <p:ext uri="{BB962C8B-B14F-4D97-AF65-F5344CB8AC3E}">
        <p14:creationId xmlns:p14="http://schemas.microsoft.com/office/powerpoint/2010/main" val="305170376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ECEDE-22C4-D974-780F-F12733455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D3C310-502A-9728-EE15-31DBD674369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D09C25-1F4A-764A-80A0-EFCAE3EF2C4B}"/>
              </a:ext>
            </a:extLst>
          </p:cNvPr>
          <p:cNvSpPr>
            <a:spLocks noGrp="1"/>
          </p:cNvSpPr>
          <p:nvPr>
            <p:ph idx="1"/>
          </p:nvPr>
        </p:nvSpPr>
        <p:spPr/>
        <p:txBody>
          <a:bodyPr/>
          <a:lstStyle/>
          <a:p>
            <a:r>
              <a:rPr lang="en-US" b="1" dirty="0"/>
              <a:t>Cybersecurity and Model Risk</a:t>
            </a:r>
          </a:p>
          <a:p>
            <a:r>
              <a:rPr lang="en-US" b="1" dirty="0"/>
              <a:t>The Problem:</a:t>
            </a:r>
            <a:r>
              <a:rPr lang="en-US" dirty="0"/>
              <a:t> AI systems themselves become attack vectors. Adversarial attacks can subtly manipulate input data to trick a model into making a wrong decision (e.g., approving a fraudulent loan).</a:t>
            </a:r>
          </a:p>
          <a:p>
            <a:endParaRPr lang="en-IN" dirty="0"/>
          </a:p>
        </p:txBody>
      </p:sp>
    </p:spTree>
    <p:extLst>
      <p:ext uri="{BB962C8B-B14F-4D97-AF65-F5344CB8AC3E}">
        <p14:creationId xmlns:p14="http://schemas.microsoft.com/office/powerpoint/2010/main" val="22749360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F263A-CCCE-3851-B209-7312D68D6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6476D-640B-BA79-632F-E4A7F30FED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9B1612-7E33-27A3-F781-40DA8C53775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284609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1B1B2-DE1B-E096-A2B8-ECDE75970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BBA88-EEA9-7BDF-FED6-882582CCFB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5B3FC1-348F-9145-7679-7041ACBB5FC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75862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748</TotalTime>
  <Words>4040</Words>
  <Application>Microsoft Office PowerPoint</Application>
  <PresentationFormat>Widescreen</PresentationFormat>
  <Paragraphs>629</Paragraphs>
  <Slides>108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108</vt:i4>
      </vt:variant>
    </vt:vector>
  </HeadingPairs>
  <TitlesOfParts>
    <vt:vector size="112" baseType="lpstr">
      <vt:lpstr>Arial</vt:lpstr>
      <vt:lpstr>Calibri</vt:lpstr>
      <vt:lpstr>Calibri Light</vt:lpstr>
      <vt:lpstr>Office Theme</vt:lpstr>
      <vt:lpstr>AI in Finance</vt:lpstr>
      <vt:lpstr>What is AI in Finance?</vt:lpstr>
      <vt:lpstr>Simple Example </vt:lpstr>
      <vt:lpstr>Pattern Recognition </vt:lpstr>
      <vt:lpstr>Automation </vt:lpstr>
      <vt:lpstr>Decision Support </vt:lpstr>
      <vt:lpstr>PowerPoint Presentation</vt:lpstr>
      <vt:lpstr>Key Changes in Financial Products</vt:lpstr>
      <vt:lpstr>PowerPoint Presentation</vt:lpstr>
      <vt:lpstr>Real-Time Decision Making</vt:lpstr>
      <vt:lpstr>Smarter Risk Management</vt:lpstr>
      <vt:lpstr>PowerPoint Presentation</vt:lpstr>
      <vt:lpstr>Intelligent Automation </vt:lpstr>
      <vt:lpstr>PowerPoint Presentation</vt:lpstr>
      <vt:lpstr>Proactive Financial Insights</vt:lpstr>
      <vt:lpstr>Role of an AI-Aware Finance Product Manager</vt:lpstr>
      <vt:lpstr>Key Responsibilities</vt:lpstr>
      <vt:lpstr>Key Responsibilities</vt:lpstr>
      <vt:lpstr>Key Responsibilities</vt:lpstr>
      <vt:lpstr>Key Responsibilities</vt:lpstr>
      <vt:lpstr>Key Responsibilities</vt:lpstr>
      <vt:lpstr>Key Responsibilities</vt:lpstr>
      <vt:lpstr>How AI Impacts Key Finance Functions</vt:lpstr>
      <vt:lpstr>Payments</vt:lpstr>
      <vt:lpstr>Risk Management</vt:lpstr>
      <vt:lpstr>Compliance</vt:lpstr>
      <vt:lpstr>Finance Operations</vt:lpstr>
      <vt:lpstr>As an AIPM</vt:lpstr>
      <vt:lpstr>Understanding AI Product Management</vt:lpstr>
      <vt:lpstr> Why Product Managers Need to Understand AI Behaviour </vt:lpstr>
      <vt:lpstr>Example in finance: </vt:lpstr>
      <vt:lpstr>Why PMs Must Understand AI Behaviour</vt:lpstr>
      <vt:lpstr>PowerPoint Presentation</vt:lpstr>
      <vt:lpstr>PowerPoint Presentation</vt:lpstr>
      <vt:lpstr>PowerPoint Presentation</vt:lpstr>
      <vt:lpstr>PowerPoint Presentation</vt:lpstr>
      <vt:lpstr>How AI Improves Understanding of Customers and Decisions</vt:lpstr>
      <vt:lpstr>Example 1: Customer Behavior Analysis </vt:lpstr>
      <vt:lpstr>PowerPoint Presentation</vt:lpstr>
      <vt:lpstr>Example 2: Risk Understanding </vt:lpstr>
      <vt:lpstr>PowerPoint Presentation</vt:lpstr>
      <vt:lpstr>Example 3: Operational Decision Support </vt:lpstr>
      <vt:lpstr>Evaluating Which Financial Problems  Require AI</vt:lpstr>
      <vt:lpstr>Step 1: Check If the Problem Involves Patterns </vt:lpstr>
      <vt:lpstr>PowerPoint Presentation</vt:lpstr>
      <vt:lpstr>Step 2: Check If Historical Data Exists </vt:lpstr>
      <vt:lpstr>Step 3: Check If the Problem Requires Prediction </vt:lpstr>
      <vt:lpstr>Step 4: Check If the Problem Involves Large Data </vt:lpstr>
      <vt:lpstr> Simple Decision Framework for PMs </vt:lpstr>
      <vt:lpstr>PowerPoint Presentation</vt:lpstr>
      <vt:lpstr>Machine Learning Thinking for Finance (Business Perspective)</vt:lpstr>
      <vt:lpstr>PowerPoint Presentation</vt:lpstr>
      <vt:lpstr>How AI Identifies Patterns (Fraud, Defaults) </vt:lpstr>
      <vt:lpstr> Example: Fraud Detection </vt:lpstr>
      <vt:lpstr>Example pattern</vt:lpstr>
      <vt:lpstr>PowerPoint Presentation</vt:lpstr>
      <vt:lpstr> Example: Loan Default Pattern </vt:lpstr>
      <vt:lpstr>How AI Predicts Outcomes (Risk, Cash Flow)</vt:lpstr>
      <vt:lpstr>PowerPoint Presentation</vt:lpstr>
      <vt:lpstr>PowerPoint Presentation</vt:lpstr>
      <vt:lpstr> Example: Cash Flow Forecasting </vt:lpstr>
      <vt:lpstr>Example insight</vt:lpstr>
      <vt:lpstr>How AI Classifies Customers  (Priority, Risk Levels)</vt:lpstr>
      <vt:lpstr>PowerPoint Presentation</vt:lpstr>
      <vt:lpstr>Example: Customer Priority Segmentation </vt:lpstr>
      <vt:lpstr>PowerPoint Presentation</vt:lpstr>
      <vt:lpstr>PowerPoint Presentation</vt:lpstr>
      <vt:lpstr>Examples from Finance Functions </vt:lpstr>
      <vt:lpstr>PowerPoint Presentation</vt:lpstr>
      <vt:lpstr>Payments </vt:lpstr>
      <vt:lpstr>Reconciliation </vt:lpstr>
      <vt:lpstr>PowerPoint Presentation</vt:lpstr>
      <vt:lpstr>Risk Management </vt:lpstr>
      <vt:lpstr>As an AIPM</vt:lpstr>
      <vt:lpstr>Working with Data as a Product Manager</vt:lpstr>
      <vt:lpstr>What “Useful Data” Means in Finance</vt:lpstr>
      <vt:lpstr>PowerPoint Presentation</vt:lpstr>
      <vt:lpstr>Relevant Data</vt:lpstr>
      <vt:lpstr>                          Accurate Data </vt:lpstr>
      <vt:lpstr>PowerPoint Presentation</vt:lpstr>
      <vt:lpstr> Sufficient Data </vt:lpstr>
      <vt:lpstr>Evaluating if Data is Good Enough for an AI Feature</vt:lpstr>
      <vt:lpstr>Is the Data Structured or Unstructured? </vt:lpstr>
      <vt:lpstr>PowerPoint Presentation</vt:lpstr>
      <vt:lpstr>PowerPoint Presentation</vt:lpstr>
      <vt:lpstr>PowerPoint Presentation</vt:lpstr>
      <vt:lpstr>Is the Data Biased?</vt:lpstr>
      <vt:lpstr>Aligning Business Outcomes with  Prediction or Automation</vt:lpstr>
      <vt:lpstr>Example 1: Lending </vt:lpstr>
      <vt:lpstr>Example 2: Payments </vt:lpstr>
      <vt:lpstr>Example 3: Finance Operations </vt:lpstr>
      <vt:lpstr>Key Idea for Product Managers </vt:lpstr>
      <vt:lpstr>Machine Learning (ML) &amp; Deep Learning </vt:lpstr>
      <vt:lpstr>  Robotic Process Automation (RPA)  Enhanced with AI </vt:lpstr>
      <vt:lpstr>Natural Language Processing (NLP) </vt:lpstr>
      <vt:lpstr>Generative AI </vt:lpstr>
      <vt:lpstr>Computer Vision </vt:lpstr>
      <vt:lpstr>AI-Driven Portfolio Management &amp; Algo-Trading </vt:lpstr>
      <vt:lpstr> Hyper-Personalized Banking &amp; Wealth Management </vt:lpstr>
      <vt:lpstr>3. Predictive Risk Management &amp; Underwriting </vt:lpstr>
      <vt:lpstr>4. Next-Generation Fraud Detection and AML </vt:lpstr>
      <vt:lpstr>Autonomous Finance Operations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Latha T K</dc:creator>
  <cp:lastModifiedBy>Latha T K</cp:lastModifiedBy>
  <cp:revision>3</cp:revision>
  <dcterms:created xsi:type="dcterms:W3CDTF">2026-03-09T16:00:17Z</dcterms:created>
  <dcterms:modified xsi:type="dcterms:W3CDTF">2026-03-10T15:20:38Z</dcterms:modified>
</cp:coreProperties>
</file>